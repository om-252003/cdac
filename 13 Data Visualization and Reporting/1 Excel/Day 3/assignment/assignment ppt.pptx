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8" r:id="rId6"/>
    <p:sldId id="261" r:id="rId7"/>
    <p:sldId id="262" r:id="rId8"/>
    <p:sldId id="263" r:id="rId9"/>
    <p:sldId id="265" r:id="rId10"/>
    <p:sldId id="266" r:id="rId11"/>
    <p:sldId id="267" r:id="rId12"/>
  </p:sldIdLst>
  <p:sldSz cx="14630400" cy="8229600"/>
  <p:notesSz cx="8229600" cy="14630400"/>
  <p:embeddedFontLst>
    <p:embeddedFont>
      <p:font typeface="Instrument Sans Medium" panose="020B0604020202020204" charset="0"/>
      <p:regular r:id="rId14"/>
    </p:embeddedFont>
    <p:embeddedFont>
      <p:font typeface="Instrument Sans Semi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dac\13%20Data%20Visualization%20and%20Reporting\1%20Excel\Day%203\assignment\assignment%20solv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[assignment solved.xlsx]Academic Background Analysis!PivotTable10</c:name>
    <c:fmtId val="50"/>
  </c:pivotSource>
  <c:chart>
    <c:autoTitleDeleted val="1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CC0099"/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CC0099"/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lumMod val="60000"/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5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7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8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9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0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1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2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3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5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6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7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8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9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20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21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23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24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25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26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27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28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29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31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32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33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34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35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36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37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39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40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41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42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43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44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45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47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48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49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50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51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52"/>
        <c:spPr>
          <a:solidFill>
            <a:schemeClr val="accent6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</c:pivotFmts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'Academic Background Analysis'!$K$3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6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BD3-4E36-B862-56B9ABC7FB9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CBD3-4E36-B862-56B9ABC7FB9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CBD3-4E36-B862-56B9ABC7FB9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>
                  <a:lumMod val="6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CBD3-4E36-B862-56B9ABC7FB94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>
                  <a:lumMod val="6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CBD3-4E36-B862-56B9ABC7FB94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4">
                  <a:lumMod val="6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CBD3-4E36-B862-56B9ABC7FB94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6">
                  <a:lumMod val="80000"/>
                  <a:lumOff val="2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D-CBD3-4E36-B862-56B9ABC7FB94}"/>
              </c:ext>
            </c:extLst>
          </c:dPt>
          <c:dLbls>
            <c:spPr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'Academic Background Analysis'!$J$4:$J$11</c:f>
              <c:strCache>
                <c:ptCount val="7"/>
                <c:pt idx="0">
                  <c:v>Civil</c:v>
                </c:pt>
                <c:pt idx="1">
                  <c:v>Computer</c:v>
                </c:pt>
                <c:pt idx="2">
                  <c:v>Electrical</c:v>
                </c:pt>
                <c:pt idx="3">
                  <c:v>Electronics</c:v>
                </c:pt>
                <c:pt idx="4">
                  <c:v>IT</c:v>
                </c:pt>
                <c:pt idx="5">
                  <c:v>Mechanical</c:v>
                </c:pt>
                <c:pt idx="6">
                  <c:v>Other</c:v>
                </c:pt>
              </c:strCache>
            </c:strRef>
          </c:cat>
          <c:val>
            <c:numRef>
              <c:f>'Academic Background Analysis'!$K$4:$K$11</c:f>
              <c:numCache>
                <c:formatCode>0.00</c:formatCode>
                <c:ptCount val="7"/>
                <c:pt idx="0">
                  <c:v>64.156944444333334</c:v>
                </c:pt>
                <c:pt idx="1">
                  <c:v>64.856707316910573</c:v>
                </c:pt>
                <c:pt idx="2">
                  <c:v>64.241898148333334</c:v>
                </c:pt>
                <c:pt idx="3">
                  <c:v>66.444704049719633</c:v>
                </c:pt>
                <c:pt idx="4">
                  <c:v>64.559959349756099</c:v>
                </c:pt>
                <c:pt idx="5">
                  <c:v>65.705650252499993</c:v>
                </c:pt>
                <c:pt idx="6">
                  <c:v>66.14267676773278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BD3-4E36-B862-56B9ABC7FB9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571486687"/>
        <c:axId val="1571487167"/>
      </c:barChart>
      <c:catAx>
        <c:axId val="157148668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571487167"/>
        <c:crosses val="autoZero"/>
        <c:auto val="1"/>
        <c:lblAlgn val="ctr"/>
        <c:lblOffset val="100"/>
        <c:noMultiLvlLbl val="0"/>
      </c:catAx>
      <c:valAx>
        <c:axId val="1571487167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15714866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75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17678-AA58-1CF1-7C16-3FE0274ED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2D862A-0805-142C-DFF3-2801BD2BB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D13A6E-8D02-A26E-5784-85D357932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0A057-F684-420B-0953-CC6D9A827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194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4697"/>
            </a:avLst>
          </a:prstGeom>
          <a:solidFill>
            <a:srgbClr val="FFFFFF"/>
          </a:solidFill>
          <a:ln w="15240">
            <a:solidFill>
              <a:srgbClr val="BBD9F5"/>
            </a:solidFill>
            <a:prstDash val="solid"/>
          </a:ln>
          <a:effectLst>
            <a:outerShdw dist="100330" dir="2700000" algn="bl" rotWithShape="0">
              <a:srgbClr val="BBD9F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317308" y="3912751"/>
            <a:ext cx="11995785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4697"/>
            </a:avLst>
          </a:prstGeom>
          <a:solidFill>
            <a:srgbClr val="FFFFFF"/>
          </a:solidFill>
          <a:ln w="15240">
            <a:solidFill>
              <a:srgbClr val="BBD9F5"/>
            </a:solidFill>
            <a:prstDash val="solid"/>
          </a:ln>
          <a:effectLst>
            <a:outerShdw dist="100330" dir="2700000" algn="bl" rotWithShape="0">
              <a:srgbClr val="BBD9F5">
                <a:alpha val="10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07" y="243840"/>
            <a:ext cx="13763387" cy="774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469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317308" y="2962751"/>
            <a:ext cx="7672507" cy="78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00"/>
              </a:lnSpc>
              <a:buNone/>
            </a:pPr>
            <a:r>
              <a:rPr lang="en-US" sz="49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Placement Trend Analysis</a:t>
            </a:r>
            <a:endParaRPr lang="en-US" sz="4950" dirty="0"/>
          </a:p>
        </p:txBody>
      </p:sp>
      <p:sp>
        <p:nvSpPr>
          <p:cNvPr id="6" name="Text 3"/>
          <p:cNvSpPr/>
          <p:nvPr/>
        </p:nvSpPr>
        <p:spPr>
          <a:xfrm>
            <a:off x="1317308" y="3852863"/>
            <a:ext cx="5050750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SM VITA Institute</a:t>
            </a:r>
            <a:endParaRPr lang="en-US" sz="3950" dirty="0"/>
          </a:p>
        </p:txBody>
      </p:sp>
      <p:sp>
        <p:nvSpPr>
          <p:cNvPr id="7" name="Text 4"/>
          <p:cNvSpPr/>
          <p:nvPr/>
        </p:nvSpPr>
        <p:spPr>
          <a:xfrm>
            <a:off x="1317308" y="4862870"/>
            <a:ext cx="11995785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Academic Years: 2021-2023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3660755" y="7389733"/>
            <a:ext cx="33420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818596"/>
          </a:xfrm>
          <a:prstGeom prst="roundRect">
            <a:avLst>
              <a:gd name="adj" fmla="val 3348"/>
            </a:avLst>
          </a:prstGeom>
          <a:solidFill>
            <a:srgbClr val="FFFFFF"/>
          </a:solidFill>
          <a:ln w="7620">
            <a:solidFill>
              <a:srgbClr val="BBD9F5"/>
            </a:solidFill>
            <a:prstDash val="solid"/>
          </a:ln>
          <a:effectLst>
            <a:outerShdw dist="72390" dir="2700000" algn="bl" rotWithShape="0">
              <a:srgbClr val="BBD9F5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1069777" y="898208"/>
            <a:ext cx="6311265" cy="56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Institute Placement Overview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1069777" y="1538883"/>
            <a:ext cx="8076248" cy="454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Total Students Appeared vs Placed (2021-2023)</a:t>
            </a:r>
            <a:endParaRPr lang="en-US" sz="2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777" y="2470428"/>
            <a:ext cx="7317105" cy="35521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32146" y="6022538"/>
            <a:ext cx="181689" cy="181689"/>
          </a:xfrm>
          <a:prstGeom prst="roundRect">
            <a:avLst>
              <a:gd name="adj" fmla="val 10066"/>
            </a:avLst>
          </a:prstGeom>
          <a:solidFill>
            <a:srgbClr val="03274A"/>
          </a:solidFill>
          <a:ln/>
        </p:spPr>
      </p:sp>
      <p:sp>
        <p:nvSpPr>
          <p:cNvPr id="7" name="Text 4"/>
          <p:cNvSpPr/>
          <p:nvPr/>
        </p:nvSpPr>
        <p:spPr>
          <a:xfrm>
            <a:off x="4074795" y="6022538"/>
            <a:ext cx="577334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Placed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04529" y="6022538"/>
            <a:ext cx="181689" cy="181689"/>
          </a:xfrm>
          <a:prstGeom prst="roundRect">
            <a:avLst>
              <a:gd name="adj" fmla="val 10066"/>
            </a:avLst>
          </a:prstGeom>
          <a:solidFill>
            <a:srgbClr val="075DAE"/>
          </a:solidFill>
          <a:ln/>
        </p:spPr>
      </p:sp>
      <p:sp>
        <p:nvSpPr>
          <p:cNvPr id="9" name="Text 6"/>
          <p:cNvSpPr/>
          <p:nvPr/>
        </p:nvSpPr>
        <p:spPr>
          <a:xfrm>
            <a:off x="5047178" y="6022538"/>
            <a:ext cx="807363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Unplaced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837890" y="2470428"/>
            <a:ext cx="4730234" cy="1456611"/>
          </a:xfrm>
          <a:prstGeom prst="roundRect">
            <a:avLst>
              <a:gd name="adj" fmla="val 7533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815030" y="2470428"/>
            <a:ext cx="91440" cy="1456611"/>
          </a:xfrm>
          <a:prstGeom prst="roundRect">
            <a:avLst>
              <a:gd name="adj" fmla="val 178937"/>
            </a:avLst>
          </a:prstGeom>
          <a:solidFill>
            <a:srgbClr val="84C1FA"/>
          </a:solidFill>
          <a:ln/>
        </p:spPr>
      </p:sp>
      <p:sp>
        <p:nvSpPr>
          <p:cNvPr id="12" name="Text 9"/>
          <p:cNvSpPr/>
          <p:nvPr/>
        </p:nvSpPr>
        <p:spPr>
          <a:xfrm>
            <a:off x="9111020" y="2674977"/>
            <a:ext cx="2272427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2021 Placement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9111020" y="3140750"/>
            <a:ext cx="4252555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333 placed out of 357 total 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(</a:t>
            </a:r>
            <a:r>
              <a:rPr lang="en-US" sz="14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93.3%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837890" y="4108728"/>
            <a:ext cx="4730234" cy="1456611"/>
          </a:xfrm>
          <a:prstGeom prst="roundRect">
            <a:avLst>
              <a:gd name="adj" fmla="val 7533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815030" y="4108728"/>
            <a:ext cx="91440" cy="1456611"/>
          </a:xfrm>
          <a:prstGeom prst="roundRect">
            <a:avLst>
              <a:gd name="adj" fmla="val 178937"/>
            </a:avLst>
          </a:prstGeom>
          <a:solidFill>
            <a:srgbClr val="84C1FA"/>
          </a:solidFill>
          <a:ln/>
        </p:spPr>
      </p:sp>
      <p:sp>
        <p:nvSpPr>
          <p:cNvPr id="16" name="Text 13"/>
          <p:cNvSpPr/>
          <p:nvPr/>
        </p:nvSpPr>
        <p:spPr>
          <a:xfrm>
            <a:off x="9111020" y="4313277"/>
            <a:ext cx="2272427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2022 Placement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9111020" y="4779050"/>
            <a:ext cx="4252555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259 placed out of 352 total 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(</a:t>
            </a:r>
            <a:r>
              <a:rPr lang="en-US" sz="14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73.6%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837890" y="5747028"/>
            <a:ext cx="4730234" cy="1456611"/>
          </a:xfrm>
          <a:prstGeom prst="roundRect">
            <a:avLst>
              <a:gd name="adj" fmla="val 7533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815030" y="5747028"/>
            <a:ext cx="91440" cy="1456611"/>
          </a:xfrm>
          <a:prstGeom prst="roundRect">
            <a:avLst>
              <a:gd name="adj" fmla="val 178937"/>
            </a:avLst>
          </a:prstGeom>
          <a:solidFill>
            <a:srgbClr val="84C1FA"/>
          </a:solidFill>
          <a:ln/>
        </p:spPr>
      </p:sp>
      <p:sp>
        <p:nvSpPr>
          <p:cNvPr id="20" name="Text 17"/>
          <p:cNvSpPr/>
          <p:nvPr/>
        </p:nvSpPr>
        <p:spPr>
          <a:xfrm>
            <a:off x="9111020" y="5951577"/>
            <a:ext cx="2272427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2023 Placement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9111020" y="6417350"/>
            <a:ext cx="4252555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 placed out of 321 total 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(</a:t>
            </a:r>
            <a:r>
              <a:rPr lang="en-US" sz="14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62.9%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78882" y="7633454"/>
            <a:ext cx="1412319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3803868" y="7633454"/>
            <a:ext cx="24765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6" y="231494"/>
            <a:ext cx="13763387" cy="7905509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7620">
            <a:solidFill>
              <a:srgbClr val="BBD9F5"/>
            </a:solidFill>
            <a:prstDash val="solid"/>
          </a:ln>
          <a:effectLst>
            <a:outerShdw dist="49530" dir="2700000" algn="bl" rotWithShape="0">
              <a:srgbClr val="BBD9F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75348" y="698302"/>
            <a:ext cx="4208383" cy="39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Year-wise Placement Trends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875348" y="1143238"/>
            <a:ext cx="5971342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Placement Percentage Trend Analysis (2021-2023)</a:t>
            </a:r>
            <a:endParaRPr lang="en-US" sz="1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765" y="1521858"/>
            <a:ext cx="8363636" cy="44375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95263" y="6221729"/>
            <a:ext cx="126206" cy="126206"/>
          </a:xfrm>
          <a:prstGeom prst="roundRect">
            <a:avLst>
              <a:gd name="adj" fmla="val 14491"/>
            </a:avLst>
          </a:prstGeom>
          <a:solidFill>
            <a:srgbClr val="03274A"/>
          </a:solidFill>
          <a:ln/>
        </p:spPr>
      </p:sp>
      <p:sp>
        <p:nvSpPr>
          <p:cNvPr id="7" name="Text 4"/>
          <p:cNvSpPr/>
          <p:nvPr/>
        </p:nvSpPr>
        <p:spPr>
          <a:xfrm>
            <a:off x="4182429" y="6221729"/>
            <a:ext cx="709970" cy="12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VITA Placed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720484" y="6221729"/>
            <a:ext cx="126206" cy="126206"/>
          </a:xfrm>
          <a:prstGeom prst="roundRect">
            <a:avLst>
              <a:gd name="adj" fmla="val 14491"/>
            </a:avLst>
          </a:prstGeom>
          <a:solidFill>
            <a:srgbClr val="064B8C"/>
          </a:solidFill>
          <a:ln/>
        </p:spPr>
      </p:sp>
      <p:sp>
        <p:nvSpPr>
          <p:cNvPr id="9" name="Text 6"/>
          <p:cNvSpPr/>
          <p:nvPr/>
        </p:nvSpPr>
        <p:spPr>
          <a:xfrm>
            <a:off x="6907651" y="6221729"/>
            <a:ext cx="653058" cy="12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Self Placed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9388794" y="6221729"/>
            <a:ext cx="126206" cy="126206"/>
          </a:xfrm>
          <a:prstGeom prst="roundRect">
            <a:avLst>
              <a:gd name="adj" fmla="val 14491"/>
            </a:avLst>
          </a:prstGeom>
          <a:solidFill>
            <a:srgbClr val="086FCF"/>
          </a:solidFill>
          <a:ln/>
        </p:spPr>
      </p:sp>
      <p:sp>
        <p:nvSpPr>
          <p:cNvPr id="11" name="Text 8"/>
          <p:cNvSpPr/>
          <p:nvPr/>
        </p:nvSpPr>
        <p:spPr>
          <a:xfrm>
            <a:off x="9575960" y="6221729"/>
            <a:ext cx="560784" cy="12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Unplaced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34472" y="10444163"/>
            <a:ext cx="980122" cy="141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Gamma Tips &amp; Tricks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13926502" y="10444163"/>
            <a:ext cx="169426" cy="141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</a:t>
            </a:r>
            <a:endParaRPr lang="en-US" sz="65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F5CD8F26-96D3-29DF-83C1-628FE37F6522}"/>
              </a:ext>
            </a:extLst>
          </p:cNvPr>
          <p:cNvSpPr/>
          <p:nvPr/>
        </p:nvSpPr>
        <p:spPr>
          <a:xfrm>
            <a:off x="1145739" y="6492598"/>
            <a:ext cx="12879705" cy="206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Observations:</a:t>
            </a:r>
            <a:endParaRPr lang="en-US" sz="140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2F5A161A-0C63-9C1D-AAEA-E1B55C35068D}"/>
              </a:ext>
            </a:extLst>
          </p:cNvPr>
          <p:cNvSpPr/>
          <p:nvPr/>
        </p:nvSpPr>
        <p:spPr>
          <a:xfrm>
            <a:off x="1145739" y="6836689"/>
            <a:ext cx="12879705" cy="206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Peak placement in 2021 (March batch: ~93%)</a:t>
            </a:r>
            <a:endParaRPr lang="en-US" sz="140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55DA4479-F123-D37E-D573-E4C19E88CB8B}"/>
              </a:ext>
            </a:extLst>
          </p:cNvPr>
          <p:cNvSpPr/>
          <p:nvPr/>
        </p:nvSpPr>
        <p:spPr>
          <a:xfrm>
            <a:off x="1145739" y="7082910"/>
            <a:ext cx="12879705" cy="206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Declining trend observed from 2021 to 2023</a:t>
            </a:r>
            <a:endParaRPr lang="en-US" sz="140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048D9228-B89B-118E-EF69-AAB9F4C211B6}"/>
              </a:ext>
            </a:extLst>
          </p:cNvPr>
          <p:cNvSpPr/>
          <p:nvPr/>
        </p:nvSpPr>
        <p:spPr>
          <a:xfrm>
            <a:off x="1145739" y="7329131"/>
            <a:ext cx="12879705" cy="206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2023 shows lowest placement percentage (~63%)</a:t>
            </a:r>
            <a:endParaRPr lang="en-US" sz="140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4B727141-2A54-E24A-E13F-3F7C89B70D94}"/>
              </a:ext>
            </a:extLst>
          </p:cNvPr>
          <p:cNvSpPr/>
          <p:nvPr/>
        </p:nvSpPr>
        <p:spPr>
          <a:xfrm>
            <a:off x="1145739" y="7575352"/>
            <a:ext cx="12879705" cy="206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Self-placement increasing as VITA placements decline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7E27A-A034-56AE-BE69-9849DCF97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6C5B2A2-E388-E844-4CA2-0619E0CFC4F2}"/>
              </a:ext>
            </a:extLst>
          </p:cNvPr>
          <p:cNvSpPr/>
          <p:nvPr/>
        </p:nvSpPr>
        <p:spPr>
          <a:xfrm>
            <a:off x="433506" y="231494"/>
            <a:ext cx="13763387" cy="7905509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7620">
            <a:solidFill>
              <a:srgbClr val="BBD9F5"/>
            </a:solidFill>
            <a:prstDash val="solid"/>
          </a:ln>
          <a:effectLst>
            <a:outerShdw dist="49530" dir="2700000" algn="bl" rotWithShape="0">
              <a:srgbClr val="BBD9F5">
                <a:alpha val="100000"/>
              </a:srgbClr>
            </a:outerShdw>
          </a:effectLst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5D0581B-57C2-CD58-429E-ED139053A0DC}"/>
              </a:ext>
            </a:extLst>
          </p:cNvPr>
          <p:cNvSpPr/>
          <p:nvPr/>
        </p:nvSpPr>
        <p:spPr>
          <a:xfrm>
            <a:off x="875348" y="698302"/>
            <a:ext cx="4208383" cy="39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Year-wise &amp; Batch Wise Placement Trends</a:t>
            </a:r>
            <a:endParaRPr lang="en-US" sz="24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0C73BA9-A916-7E32-A2EA-9990D1083248}"/>
              </a:ext>
            </a:extLst>
          </p:cNvPr>
          <p:cNvSpPr/>
          <p:nvPr/>
        </p:nvSpPr>
        <p:spPr>
          <a:xfrm>
            <a:off x="875348" y="1143238"/>
            <a:ext cx="5971342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Placement Percentage Trend Analysis (2021-2023)</a:t>
            </a:r>
            <a:endParaRPr lang="en-US" sz="19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D94B152-412E-CE7F-58CC-D0D9210682EB}"/>
              </a:ext>
            </a:extLst>
          </p:cNvPr>
          <p:cNvSpPr/>
          <p:nvPr/>
        </p:nvSpPr>
        <p:spPr>
          <a:xfrm>
            <a:off x="4182429" y="6221729"/>
            <a:ext cx="709970" cy="12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endParaRPr lang="en-US" sz="9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B444E1C-5923-9144-CEA4-1C7613FC0B5F}"/>
              </a:ext>
            </a:extLst>
          </p:cNvPr>
          <p:cNvSpPr/>
          <p:nvPr/>
        </p:nvSpPr>
        <p:spPr>
          <a:xfrm>
            <a:off x="6907651" y="6221729"/>
            <a:ext cx="653058" cy="12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endParaRPr lang="en-US" sz="9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112D5F2-B8A1-2F7D-2E35-5DAA6FF5E823}"/>
              </a:ext>
            </a:extLst>
          </p:cNvPr>
          <p:cNvSpPr/>
          <p:nvPr/>
        </p:nvSpPr>
        <p:spPr>
          <a:xfrm>
            <a:off x="9575960" y="6221729"/>
            <a:ext cx="560784" cy="12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endParaRPr lang="en-US" sz="9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D246BBF-60E8-BE93-532B-8508AC33F371}"/>
              </a:ext>
            </a:extLst>
          </p:cNvPr>
          <p:cNvSpPr/>
          <p:nvPr/>
        </p:nvSpPr>
        <p:spPr>
          <a:xfrm>
            <a:off x="534472" y="10444163"/>
            <a:ext cx="980122" cy="141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Gamma Tips &amp; Tricks</a:t>
            </a:r>
            <a:endParaRPr lang="en-US" sz="6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54DDE07-AFC2-D509-E63D-1FE59758623E}"/>
              </a:ext>
            </a:extLst>
          </p:cNvPr>
          <p:cNvSpPr/>
          <p:nvPr/>
        </p:nvSpPr>
        <p:spPr>
          <a:xfrm>
            <a:off x="13926502" y="10444163"/>
            <a:ext cx="169426" cy="141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</a:t>
            </a:r>
            <a:endParaRPr lang="en-US" sz="6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F5826B-E9B9-DDDB-4AF9-E853A9F5F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377" y="1682164"/>
            <a:ext cx="8818338" cy="540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464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3660"/>
            </a:avLst>
          </a:prstGeom>
          <a:solidFill>
            <a:srgbClr val="FFFFFF"/>
          </a:solidFill>
          <a:ln w="7620">
            <a:solidFill>
              <a:srgbClr val="BBD9F5"/>
            </a:solidFill>
            <a:prstDash val="solid"/>
          </a:ln>
          <a:effectLst>
            <a:outerShdw dist="77470" dir="2700000" algn="bl" rotWithShape="0">
              <a:srgbClr val="BBD9F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22164" y="1002625"/>
            <a:ext cx="7567136" cy="614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Course-wise Placement Analysis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1122164" y="1696283"/>
            <a:ext cx="7380327" cy="491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DAC vs DBDA Performance Comparison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1122164" y="2679859"/>
            <a:ext cx="3332440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Analytics Course (DAC)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22164" y="3183969"/>
            <a:ext cx="5953006" cy="629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course consistently shows a </a:t>
            </a: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higher placement percentage</a:t>
            </a: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compared to DBDA.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2164" y="3990618"/>
            <a:ext cx="5953006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00A86B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Stronger placement outcomes</a:t>
            </a: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observed across all years.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22164" y="4374237"/>
            <a:ext cx="5953006" cy="629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Curriculum aligns well with current industry demands for data professionals.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62850" y="2679859"/>
            <a:ext cx="492990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Database Design &amp; Administration (DBDA)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562850" y="3183969"/>
            <a:ext cx="5953006" cy="629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Requires a more </a:t>
            </a: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focused skill enhancement</a:t>
            </a: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approach to improve placement rates.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62850" y="3990618"/>
            <a:ext cx="5953006" cy="629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Comparative analysis indicates challenges in securing placements without specialized skills.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62850" y="4689038"/>
            <a:ext cx="5953006" cy="629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Opportunities exist to integrate more advanced database technologies and cloud platforms into the curriculum.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22164" y="5608796"/>
            <a:ext cx="12386072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Insights: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22164" y="6144935"/>
            <a:ext cx="12386072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DAC generally shows stronger placement outcomes due to high demand for data analytics skills.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22164" y="6528554"/>
            <a:ext cx="12386072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DBDA requires a dedicated focus on skill enhancement and updating the curriculum to meet evolving market needs.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22164" y="6912173"/>
            <a:ext cx="12386072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courses exhibit a declining trend in placement rates over the years, mirroring the overall institute trend.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0907" y="7521416"/>
            <a:ext cx="1528763" cy="22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771483" y="7521416"/>
            <a:ext cx="268010" cy="22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320040"/>
            <a:ext cx="13763387" cy="7727205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7620">
            <a:solidFill>
              <a:srgbClr val="BBD9F5"/>
            </a:solidFill>
            <a:prstDash val="solid"/>
          </a:ln>
          <a:effectLst>
            <a:outerShdw dist="49530" dir="2700000" algn="bl" rotWithShape="0">
              <a:srgbClr val="BBD9F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75348" y="698302"/>
            <a:ext cx="4285059" cy="39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Company-wise Hiring Trends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875348" y="1143238"/>
            <a:ext cx="6048375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Top Recruiting Companies &amp; Market Concentration</a:t>
            </a:r>
            <a:endParaRPr lang="en-US" sz="1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514" y="1471018"/>
            <a:ext cx="11743372" cy="65762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5348" y="9002792"/>
            <a:ext cx="12879705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Insights: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75348" y="9346883"/>
            <a:ext cx="12879705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GTPL is the dominant recruiter (68 placements)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75348" y="9593104"/>
            <a:ext cx="12879705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Top 3 companies account for significant portion of placements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75348" y="9839325"/>
            <a:ext cx="12879705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Diversification needed to reduce dependency on single recruiters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75348" y="10085546"/>
            <a:ext cx="12879705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Emerging companies showing interest in institute graduates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34472" y="10444163"/>
            <a:ext cx="980122" cy="141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Gamma Tips &amp; Tricks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13929360" y="10444163"/>
            <a:ext cx="166568" cy="141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1"/>
            <a:ext cx="13763387" cy="7787640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7620">
            <a:solidFill>
              <a:srgbClr val="BBD9F5"/>
            </a:solidFill>
            <a:prstDash val="solid"/>
          </a:ln>
          <a:effectLst>
            <a:outerShdw dist="49530" dir="2700000" algn="bl" rotWithShape="0">
              <a:srgbClr val="BBD9F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75348" y="698302"/>
            <a:ext cx="5555932" cy="39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Academic Performance vs Placement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875348" y="1143238"/>
            <a:ext cx="6196489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CDAC Performance by Branch (Average Percentage)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75348" y="9002792"/>
            <a:ext cx="12879705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Correlation Insights: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75348" y="9346883"/>
            <a:ext cx="12879705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Electronics and Other branches show highest academic performance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75348" y="9593104"/>
            <a:ext cx="12879705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Strong correlation between academic scores and placement outcomes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75348" y="9839325"/>
            <a:ext cx="12879705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CDAC performance directly impacts placement success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75348" y="10085546"/>
            <a:ext cx="12879705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Consistent performance across all branches (64-66% range)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34472" y="10444163"/>
            <a:ext cx="980122" cy="141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Gamma Tips &amp; Tricks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13925431" y="10444163"/>
            <a:ext cx="170497" cy="141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</a:t>
            </a:r>
            <a:endParaRPr lang="en-US" sz="650" dirty="0"/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40C2F096-83B0-4084-AD6F-F9EF32D863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1271783"/>
              </p:ext>
            </p:extLst>
          </p:nvPr>
        </p:nvGraphicFramePr>
        <p:xfrm>
          <a:off x="1711965" y="1796486"/>
          <a:ext cx="10495275" cy="5503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7620">
            <a:solidFill>
              <a:srgbClr val="BBD9F5"/>
            </a:solidFill>
            <a:prstDash val="solid"/>
          </a:ln>
          <a:effectLst>
            <a:outerShdw dist="74930" dir="2700000" algn="bl" rotWithShape="0">
              <a:srgbClr val="BBD9F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098709" y="1119664"/>
            <a:ext cx="6236256" cy="593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Insights &amp; Observations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1098709" y="2093595"/>
            <a:ext cx="4017645" cy="5016341"/>
          </a:xfrm>
          <a:prstGeom prst="roundRect">
            <a:avLst>
              <a:gd name="adj" fmla="val 4258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1569" y="2116455"/>
            <a:ext cx="3971925" cy="570190"/>
          </a:xfrm>
          <a:prstGeom prst="roundRect">
            <a:avLst>
              <a:gd name="adj" fmla="val 25192"/>
            </a:avLst>
          </a:prstGeom>
          <a:solidFill>
            <a:srgbClr val="CEE6F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65013" y="2258973"/>
            <a:ext cx="285036" cy="2850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11593" y="2876669"/>
            <a:ext cx="2375892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Worked Well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311593" y="3287673"/>
            <a:ext cx="3591878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2021 batches achieved exceptional placement rates (93.3%)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11593" y="3962043"/>
            <a:ext cx="3591878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GTPL partnership proved highly successful (68 placements)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11593" y="4636413"/>
            <a:ext cx="3591878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DAC course shows stronger placement outcomes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311593" y="5310783"/>
            <a:ext cx="3591878" cy="911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Electronics and Other branches demonstrate consistent performance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306378" y="2093595"/>
            <a:ext cx="4017645" cy="5016341"/>
          </a:xfrm>
          <a:prstGeom prst="roundRect">
            <a:avLst>
              <a:gd name="adj" fmla="val 4258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29238" y="2116455"/>
            <a:ext cx="3971925" cy="570190"/>
          </a:xfrm>
          <a:prstGeom prst="roundRect">
            <a:avLst>
              <a:gd name="adj" fmla="val 25192"/>
            </a:avLst>
          </a:prstGeom>
          <a:solidFill>
            <a:srgbClr val="CEE6FD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2682" y="2258973"/>
            <a:ext cx="285036" cy="2850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19261" y="2876669"/>
            <a:ext cx="3202186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Areas Needing Improvement</a:t>
            </a:r>
            <a:endParaRPr lang="en-US" sz="1850" dirty="0"/>
          </a:p>
        </p:txBody>
      </p:sp>
      <p:sp>
        <p:nvSpPr>
          <p:cNvPr id="16" name="Text 12"/>
          <p:cNvSpPr/>
          <p:nvPr/>
        </p:nvSpPr>
        <p:spPr>
          <a:xfrm>
            <a:off x="5519261" y="3287673"/>
            <a:ext cx="3591878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Overall placement percentage declining year-over-year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5519261" y="3962043"/>
            <a:ext cx="3591878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2023 placement rate dropped to 62.9% (30% decline from 2021)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5519261" y="4636413"/>
            <a:ext cx="3591878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DBDA course requires curriculum enhancement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5519261" y="5310783"/>
            <a:ext cx="3591878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Over-reliance on single recruiter (GTPL: 68 out of ~500 placements)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5519261" y="5985153"/>
            <a:ext cx="3591878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Unplaced students increasing (24 in 2021 → 119 in 2023)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9514046" y="2093595"/>
            <a:ext cx="4017645" cy="5016341"/>
          </a:xfrm>
          <a:prstGeom prst="roundRect">
            <a:avLst>
              <a:gd name="adj" fmla="val 4258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536906" y="2116455"/>
            <a:ext cx="3971925" cy="570190"/>
          </a:xfrm>
          <a:prstGeom prst="roundRect">
            <a:avLst>
              <a:gd name="adj" fmla="val 25192"/>
            </a:avLst>
          </a:prstGeom>
          <a:solidFill>
            <a:srgbClr val="CEE6FD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80351" y="2258973"/>
            <a:ext cx="285036" cy="28503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726930" y="2876669"/>
            <a:ext cx="3122414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Hidden Patterns Discovered</a:t>
            </a:r>
            <a:endParaRPr lang="en-US" sz="1850" dirty="0"/>
          </a:p>
        </p:txBody>
      </p:sp>
      <p:sp>
        <p:nvSpPr>
          <p:cNvPr id="25" name="Text 20"/>
          <p:cNvSpPr/>
          <p:nvPr/>
        </p:nvSpPr>
        <p:spPr>
          <a:xfrm>
            <a:off x="9726930" y="3287673"/>
            <a:ext cx="3591878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Self-placement increasing as VITA placements decline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9726930" y="3962043"/>
            <a:ext cx="3591878" cy="911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Strong correlation between academic performance and placement success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9726930" y="4940379"/>
            <a:ext cx="3591878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 grades directly impact placement outcomes</a:t>
            </a:r>
            <a:endParaRPr lang="en-US" sz="1450" dirty="0"/>
          </a:p>
        </p:txBody>
      </p:sp>
      <p:sp>
        <p:nvSpPr>
          <p:cNvPr id="28" name="Text 23"/>
          <p:cNvSpPr/>
          <p:nvPr/>
        </p:nvSpPr>
        <p:spPr>
          <a:xfrm>
            <a:off x="9726930" y="5614749"/>
            <a:ext cx="3591878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 distribution shows 23-25 age group has highest placement rate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9726930" y="6289119"/>
            <a:ext cx="3591878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Market shift towards data analytics over traditional database roles</a:t>
            </a:r>
            <a:endParaRPr lang="en-US" sz="1450" dirty="0"/>
          </a:p>
        </p:txBody>
      </p:sp>
      <p:sp>
        <p:nvSpPr>
          <p:cNvPr id="30" name="Text 25"/>
          <p:cNvSpPr/>
          <p:nvPr/>
        </p:nvSpPr>
        <p:spPr>
          <a:xfrm>
            <a:off x="585549" y="7537133"/>
            <a:ext cx="1477208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13725525" y="7537133"/>
            <a:ext cx="319326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2975"/>
            </a:avLst>
          </a:prstGeom>
          <a:solidFill>
            <a:srgbClr val="FFFFFF"/>
          </a:solidFill>
          <a:ln w="7620">
            <a:solidFill>
              <a:srgbClr val="BBD9F5"/>
            </a:solidFill>
            <a:prstDash val="solid"/>
          </a:ln>
          <a:effectLst>
            <a:outerShdw dist="63500" dir="2700000" algn="bl" rotWithShape="0">
              <a:srgbClr val="BBD9F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93338" y="1050131"/>
            <a:ext cx="5384721" cy="499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Strategic Recommendations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993338" y="1613892"/>
            <a:ext cx="6742152" cy="399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Action Plan to Improve Placement Outcomes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93338" y="2253615"/>
            <a:ext cx="6241852" cy="2382917"/>
          </a:xfrm>
          <a:prstGeom prst="roundRect">
            <a:avLst>
              <a:gd name="adj" fmla="val 6042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198" y="2276475"/>
            <a:ext cx="6196132" cy="479822"/>
          </a:xfrm>
          <a:prstGeom prst="roundRect">
            <a:avLst>
              <a:gd name="adj" fmla="val 24287"/>
            </a:avLst>
          </a:prstGeom>
          <a:solidFill>
            <a:srgbClr val="CEE6F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94309" y="2396371"/>
            <a:ext cx="239911" cy="23991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6099" y="2916198"/>
            <a:ext cx="2430304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Curriculum Enhancement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76099" y="3261955"/>
            <a:ext cx="5876330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Update DBDA curriculum with cloud database technologies (AWS, Azure)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76099" y="3573899"/>
            <a:ext cx="5876330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Integrate emerging technologies (AI/ML, Big Data) into DAC course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76099" y="3885843"/>
            <a:ext cx="5876330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Strengthen project-based learning to improve project grades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76099" y="4197787"/>
            <a:ext cx="5876330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Industry-aligned skill development programs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395091" y="2253615"/>
            <a:ext cx="6241971" cy="2382917"/>
          </a:xfrm>
          <a:prstGeom prst="roundRect">
            <a:avLst>
              <a:gd name="adj" fmla="val 6042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17951" y="2276475"/>
            <a:ext cx="6196251" cy="479822"/>
          </a:xfrm>
          <a:prstGeom prst="roundRect">
            <a:avLst>
              <a:gd name="adj" fmla="val 24287"/>
            </a:avLst>
          </a:prstGeom>
          <a:solidFill>
            <a:srgbClr val="CEE6FD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96061" y="2396371"/>
            <a:ext cx="239911" cy="23991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77852" y="2916198"/>
            <a:ext cx="2264569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Recruiter Diversification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7577852" y="3261955"/>
            <a:ext cx="5876449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Expand partnerships beyond GTPL to reduce dependency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7577852" y="3573899"/>
            <a:ext cx="5876449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Target mid-size tech companies and startups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7577852" y="3885843"/>
            <a:ext cx="5876449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 relationships with 10+ new recruiters annually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7577852" y="4197787"/>
            <a:ext cx="5876449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 specialized hiring tracks for different skill levels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993338" y="4796433"/>
            <a:ext cx="6241852" cy="2382917"/>
          </a:xfrm>
          <a:prstGeom prst="roundRect">
            <a:avLst>
              <a:gd name="adj" fmla="val 6042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16198" y="4819293"/>
            <a:ext cx="6196132" cy="479822"/>
          </a:xfrm>
          <a:prstGeom prst="roundRect">
            <a:avLst>
              <a:gd name="adj" fmla="val 24287"/>
            </a:avLst>
          </a:prstGeom>
          <a:solidFill>
            <a:srgbClr val="CEE6FD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94309" y="4939189"/>
            <a:ext cx="239911" cy="23991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76099" y="5459016"/>
            <a:ext cx="2634853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Student Performance Focus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1176099" y="5804773"/>
            <a:ext cx="5876330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 early intervention for low-performing students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1176099" y="6116717"/>
            <a:ext cx="5876330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Mentorship programs linking high-performers with struggling students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1176099" y="6428661"/>
            <a:ext cx="5876330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Regular skill assessments and remedial training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1176099" y="6740604"/>
            <a:ext cx="5876330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Career counseling starting from day one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7395091" y="4796433"/>
            <a:ext cx="6241971" cy="2382917"/>
          </a:xfrm>
          <a:prstGeom prst="roundRect">
            <a:avLst>
              <a:gd name="adj" fmla="val 6042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417951" y="4819293"/>
            <a:ext cx="6196251" cy="479822"/>
          </a:xfrm>
          <a:prstGeom prst="roundRect">
            <a:avLst>
              <a:gd name="adj" fmla="val 24287"/>
            </a:avLst>
          </a:prstGeom>
          <a:solidFill>
            <a:srgbClr val="CEE6FD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96061" y="4939189"/>
            <a:ext cx="239911" cy="239911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577852" y="5459016"/>
            <a:ext cx="1999536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Market Alignment</a:t>
            </a:r>
            <a:endParaRPr lang="en-US" sz="1550" dirty="0"/>
          </a:p>
        </p:txBody>
      </p:sp>
      <p:sp>
        <p:nvSpPr>
          <p:cNvPr id="33" name="Text 27"/>
          <p:cNvSpPr/>
          <p:nvPr/>
        </p:nvSpPr>
        <p:spPr>
          <a:xfrm>
            <a:off x="7577852" y="5804773"/>
            <a:ext cx="5876449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Shift focus towards high-demand skills (Data Science, Cloud Computing)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7577852" y="6116717"/>
            <a:ext cx="5876449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Conduct quarterly industry surveys to align curriculum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7577852" y="6428661"/>
            <a:ext cx="5876449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Invite industry experts for guest lectures and workshops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7577852" y="6740604"/>
            <a:ext cx="5876449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Establish internship programs with leading companies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561380" y="7608332"/>
            <a:ext cx="1243132" cy="17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13832681" y="7608332"/>
            <a:ext cx="236339" cy="17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773948"/>
          </a:xfrm>
          <a:prstGeom prst="roundRect">
            <a:avLst>
              <a:gd name="adj" fmla="val 2748"/>
            </a:avLst>
          </a:prstGeom>
          <a:solidFill>
            <a:srgbClr val="FFFFFF"/>
          </a:solidFill>
          <a:ln w="7620">
            <a:solidFill>
              <a:srgbClr val="BBD9F5"/>
            </a:solidFill>
            <a:prstDash val="solid"/>
          </a:ln>
          <a:effectLst>
            <a:outerShdw dist="58420" dir="2700000" algn="bl" rotWithShape="0">
              <a:srgbClr val="BBD9F5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52619" y="777835"/>
            <a:ext cx="3708678" cy="463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52619" y="1300639"/>
            <a:ext cx="5505807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Overall Institute Performance Snapshot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52619" y="1893927"/>
            <a:ext cx="12725162" cy="474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 VITA Institute has demonstrated strong placement capabilities, with 2021 achieving a 93.3% placement rate. However, the declining trend from 2021 to 2023 (93.3% → 62.9%) requires immediate strategic intervention.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52619" y="2590919"/>
            <a:ext cx="2225159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Takeaways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952619" y="3091458"/>
            <a:ext cx="6288405" cy="801529"/>
          </a:xfrm>
          <a:prstGeom prst="roundRect">
            <a:avLst>
              <a:gd name="adj" fmla="val 9127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379" y="3091458"/>
            <a:ext cx="60960" cy="801529"/>
          </a:xfrm>
          <a:prstGeom prst="roundRect">
            <a:avLst>
              <a:gd name="adj" fmla="val 219022"/>
            </a:avLst>
          </a:prstGeom>
          <a:solidFill>
            <a:srgbClr val="84C1FA"/>
          </a:solidFill>
          <a:ln/>
        </p:spPr>
      </p:sp>
      <p:sp>
        <p:nvSpPr>
          <p:cNvPr id="9" name="Text 7"/>
          <p:cNvSpPr/>
          <p:nvPr/>
        </p:nvSpPr>
        <p:spPr>
          <a:xfrm>
            <a:off x="1161812" y="3254931"/>
            <a:ext cx="5915739" cy="474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Placement Performance: From peak of 333 placements (2021) to 202 placements (2023)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89257" y="3091458"/>
            <a:ext cx="6288524" cy="801529"/>
          </a:xfrm>
          <a:prstGeom prst="roundRect">
            <a:avLst>
              <a:gd name="adj" fmla="val 9127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74017" y="3091458"/>
            <a:ext cx="60960" cy="801529"/>
          </a:xfrm>
          <a:prstGeom prst="roundRect">
            <a:avLst>
              <a:gd name="adj" fmla="val 219022"/>
            </a:avLst>
          </a:prstGeom>
          <a:solidFill>
            <a:srgbClr val="84C1FA"/>
          </a:solidFill>
          <a:ln/>
        </p:spPr>
      </p:sp>
      <p:sp>
        <p:nvSpPr>
          <p:cNvPr id="12" name="Text 10"/>
          <p:cNvSpPr/>
          <p:nvPr/>
        </p:nvSpPr>
        <p:spPr>
          <a:xfrm>
            <a:off x="7598450" y="3254931"/>
            <a:ext cx="5915858" cy="474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Market Dynamics: Shift from VITA placements to self-placements indicates changing market conditions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52619" y="4041219"/>
            <a:ext cx="6288405" cy="801529"/>
          </a:xfrm>
          <a:prstGeom prst="roundRect">
            <a:avLst>
              <a:gd name="adj" fmla="val 9127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7379" y="4041219"/>
            <a:ext cx="60960" cy="801529"/>
          </a:xfrm>
          <a:prstGeom prst="roundRect">
            <a:avLst>
              <a:gd name="adj" fmla="val 219022"/>
            </a:avLst>
          </a:prstGeom>
          <a:solidFill>
            <a:srgbClr val="84C1FA"/>
          </a:solidFill>
          <a:ln/>
        </p:spPr>
      </p:sp>
      <p:sp>
        <p:nvSpPr>
          <p:cNvPr id="15" name="Text 13"/>
          <p:cNvSpPr/>
          <p:nvPr/>
        </p:nvSpPr>
        <p:spPr>
          <a:xfrm>
            <a:off x="1161812" y="4204692"/>
            <a:ext cx="5915739" cy="474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Academic Correlation: Strong link between academic performance and placement success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89257" y="4041219"/>
            <a:ext cx="6288524" cy="801529"/>
          </a:xfrm>
          <a:prstGeom prst="roundRect">
            <a:avLst>
              <a:gd name="adj" fmla="val 9127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4017" y="4041219"/>
            <a:ext cx="60960" cy="801529"/>
          </a:xfrm>
          <a:prstGeom prst="roundRect">
            <a:avLst>
              <a:gd name="adj" fmla="val 219022"/>
            </a:avLst>
          </a:prstGeom>
          <a:solidFill>
            <a:srgbClr val="84C1FA"/>
          </a:solidFill>
          <a:ln/>
        </p:spPr>
      </p:sp>
      <p:sp>
        <p:nvSpPr>
          <p:cNvPr id="18" name="Text 16"/>
          <p:cNvSpPr/>
          <p:nvPr/>
        </p:nvSpPr>
        <p:spPr>
          <a:xfrm>
            <a:off x="7598450" y="4204692"/>
            <a:ext cx="5915858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Course Performance: DAC outperforms DBDA; both require curriculum updates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52619" y="5065157"/>
            <a:ext cx="2225159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Call to Action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952619" y="5565696"/>
            <a:ext cx="6288405" cy="564237"/>
          </a:xfrm>
          <a:prstGeom prst="roundRect">
            <a:avLst>
              <a:gd name="adj" fmla="val 12965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379" y="5565696"/>
            <a:ext cx="60960" cy="564237"/>
          </a:xfrm>
          <a:prstGeom prst="roundRect">
            <a:avLst>
              <a:gd name="adj" fmla="val 219022"/>
            </a:avLst>
          </a:prstGeom>
          <a:solidFill>
            <a:srgbClr val="84C1FA"/>
          </a:solidFill>
          <a:ln/>
        </p:spPr>
      </p:sp>
      <p:sp>
        <p:nvSpPr>
          <p:cNvPr id="22" name="Text 20"/>
          <p:cNvSpPr/>
          <p:nvPr/>
        </p:nvSpPr>
        <p:spPr>
          <a:xfrm>
            <a:off x="1161812" y="5729168"/>
            <a:ext cx="5915739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 recommended strategies immediately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89257" y="5565696"/>
            <a:ext cx="6288524" cy="564237"/>
          </a:xfrm>
          <a:prstGeom prst="roundRect">
            <a:avLst>
              <a:gd name="adj" fmla="val 12965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74017" y="5565696"/>
            <a:ext cx="60960" cy="564237"/>
          </a:xfrm>
          <a:prstGeom prst="roundRect">
            <a:avLst>
              <a:gd name="adj" fmla="val 219022"/>
            </a:avLst>
          </a:prstGeom>
          <a:solidFill>
            <a:srgbClr val="84C1FA"/>
          </a:solidFill>
          <a:ln/>
        </p:spPr>
      </p:sp>
      <p:sp>
        <p:nvSpPr>
          <p:cNvPr id="25" name="Text 23"/>
          <p:cNvSpPr/>
          <p:nvPr/>
        </p:nvSpPr>
        <p:spPr>
          <a:xfrm>
            <a:off x="7598450" y="5729168"/>
            <a:ext cx="5915858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Focus on curriculum modernization and recruiter diversification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52619" y="6278166"/>
            <a:ext cx="6288405" cy="564237"/>
          </a:xfrm>
          <a:prstGeom prst="roundRect">
            <a:avLst>
              <a:gd name="adj" fmla="val 12965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7379" y="6278166"/>
            <a:ext cx="60960" cy="564237"/>
          </a:xfrm>
          <a:prstGeom prst="roundRect">
            <a:avLst>
              <a:gd name="adj" fmla="val 219022"/>
            </a:avLst>
          </a:prstGeom>
          <a:solidFill>
            <a:srgbClr val="84C1FA"/>
          </a:solidFill>
          <a:ln/>
        </p:spPr>
      </p:sp>
      <p:sp>
        <p:nvSpPr>
          <p:cNvPr id="28" name="Text 26"/>
          <p:cNvSpPr/>
          <p:nvPr/>
        </p:nvSpPr>
        <p:spPr>
          <a:xfrm>
            <a:off x="1161812" y="6441638"/>
            <a:ext cx="5915739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Monitor quarterly placement metrics and adjust strategies accordingly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89257" y="6278166"/>
            <a:ext cx="6288524" cy="564237"/>
          </a:xfrm>
          <a:prstGeom prst="roundRect">
            <a:avLst>
              <a:gd name="adj" fmla="val 12965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74017" y="6278166"/>
            <a:ext cx="60960" cy="564237"/>
          </a:xfrm>
          <a:prstGeom prst="roundRect">
            <a:avLst>
              <a:gd name="adj" fmla="val 219022"/>
            </a:avLst>
          </a:prstGeom>
          <a:solidFill>
            <a:srgbClr val="84C1FA"/>
          </a:solidFill>
          <a:ln/>
        </p:spPr>
      </p:sp>
      <p:sp>
        <p:nvSpPr>
          <p:cNvPr id="31" name="Text 29"/>
          <p:cNvSpPr/>
          <p:nvPr/>
        </p:nvSpPr>
        <p:spPr>
          <a:xfrm>
            <a:off x="7598450" y="6441638"/>
            <a:ext cx="5915858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Strengthen student support systems and mentorship programs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52619" y="7009209"/>
            <a:ext cx="12725162" cy="474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With focused efforts on curriculum enhancement, recruiter diversification, and student support, SM VITA Institute can reverse the declining trend and achieve sustainable placement growth.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52093" y="7667744"/>
            <a:ext cx="115193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3841611" y="7667744"/>
            <a:ext cx="23669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821</Words>
  <Application>Microsoft Office PowerPoint</Application>
  <PresentationFormat>Custom</PresentationFormat>
  <Paragraphs>135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Instrument Sans Semi Bold</vt:lpstr>
      <vt:lpstr>Instrument Sans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Omsai Alladwar</cp:lastModifiedBy>
  <cp:revision>3</cp:revision>
  <dcterms:created xsi:type="dcterms:W3CDTF">2025-12-29T18:01:13Z</dcterms:created>
  <dcterms:modified xsi:type="dcterms:W3CDTF">2025-12-30T03:14:17Z</dcterms:modified>
</cp:coreProperties>
</file>