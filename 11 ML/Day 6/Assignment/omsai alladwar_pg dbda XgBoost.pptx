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Instrument Sans Medium" panose="020B0604020202020204" charset="0"/>
      <p:regular r:id="rId6"/>
    </p:embeddedFont>
    <p:embeddedFont>
      <p:font typeface="Instrument Sans Semi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3:57:17.5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120 87 24575,'0'7'0,"0"1"0,0 0 0,0 0 0,-1 0 0,0 0 0,0 0 0,-3 8 0,3-13 0,0-1 0,0 0 0,-1 1 0,1-1 0,-1 0 0,1 0 0,-1 0 0,0 0 0,0 0 0,0 0 0,0-1 0,0 1 0,0 0 0,0-1 0,0 0 0,-1 1 0,1-1 0,-1 0 0,1 0 0,-1-1 0,1 1 0,-4 0 0,-3 1 0,2-1 0,1 1 0,-1-1 0,1 1 0,0 0 0,-8 4 0,13-5 0,0-1 0,1 1 0,-1-1 0,1 0 0,-1 1 0,1-1 0,-1 1 0,1-1 0,-1 1 0,1-1 0,-1 1 0,1-1 0,0 1 0,-1 0 0,1-1 0,0 1 0,-1 0 0,1-1 0,0 1 0,0 0 0,0-1 0,0 1 0,0 0 0,0 1 0,0-1 0,1 1 0,-1-1 0,1 0 0,0 1 0,-1-1 0,1 0 0,0 0 0,0 0 0,0 1 0,0-1 0,0 0 0,0 0 0,0 0 0,0-1 0,1 2 0,12 6 0,0 0 0,0-1 0,0-1 0,1 0 0,0-1 0,29 5 0,-13-2 0,170 39 0,4 1 0,-173-40 0,0-2 0,0-1 0,44 1 0,99-7 0,-61-1 0,4 0 0,126 5 0,-177 10 0,-49-9 0,0 0 0,20 1 0,319-2 0,-183-5 0,187 2 0,-352-1 0,-1 1 0,1-1 0,-1-1 0,0 1 0,0-1 0,1-1 0,-2 0 0,1 0 0,0 0 0,0-1 0,-1 0 0,0-1 0,0 0 0,0 0 0,7-7 0,29-12 0,-36 21 0,0 0 0,0-1 0,0 0 0,-1 0 0,11-9 0,-16 12 0,-1 1 0,1 0 0,-1-1 0,1 1 0,-1-1 0,0 1 0,1-1 0,-1 1 0,1-1 0,-1 1 0,0-1 0,0 1 0,1-1 0,-1 1 0,0-1 0,0 0 0,0 1 0,1-1 0,-1 1 0,0-1 0,0 0 0,0 1 0,0-1 0,0 0 0,0 1 0,0-1 0,-1 1 0,1-2 0,-1 1 0,0 0 0,1 0 0,-1 1 0,0-1 0,0 0 0,0 0 0,0 1 0,0-1 0,0 1 0,0-1 0,0 1 0,0-1 0,0 1 0,-2-1 0,-39-5 0,41 6 0,-5 0 0,-180-15 0,88 5 0,-180 7 0,140 5 0,97-1 0,24 0 0,1 0 0,0-1 0,-1-1 0,1-1 0,0 0 0,0-1 0,-25-8 0,-154-59 0,177 64 0,1 1 0,-1 0 0,-1 1 0,1 1 0,0 1 0,-1 1 0,-18 1 0,-22-2 0,-81-23 0,-68 25 0,-30-1 0,236 1 0,0-1 0,-1 1 0,1 0 0,-1-1 0,1 1 0,0-1 0,0 1 0,-1-1 0,1 0 0,0 0 0,0 0 0,0-1 0,0 1 0,0 0 0,0-1 0,0 1 0,0-1 0,1 0 0,-1 1 0,1-1 0,-1 0 0,1 0 0,0 0 0,-1 0 0,1 0 0,0 0 0,0-1 0,1 1 0,-1 0 0,0 0 0,1-1 0,-1 1 0,1 0 0,0-1 0,0 1 0,0-1 0,0 1 0,0 0 0,1-1 0,-1 1 0,1 0 0,-1-1 0,1 1 0,0 0 0,0 0 0,0-1 0,0 1 0,0 0 0,0 0 0,1 0 0,-1 0 0,1 1 0,-1-1 0,1 0 0,0 1 0,0-1 0,0 1 0,-1-1 0,4 0 0,8-5 39,-1 1 0,1 1 0,0 1 0,1-1 0,-1 2-1,1 0 1,26-2 0,102 4-588,-81 3-578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3:57:24.2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24575,'54'4'0,"0"2"0,0 2 0,92 28 0,-79-19 0,-19-4 0,0-3 0,1-2 0,94 4 0,396-14 0,-511 4 0,0 0 0,32 8 0,-30-4 0,47 3 0,-52-8 0,47 11 0,-48-7 0,50 4 0,110-11 0,79 4 0,-162 14 0,-34-4 0,-38-7 0,49 16 0,-57-13 0,0-2 0,1-1 0,-1-1 0,37 3 0,0-6 0,-30-3 0,0 3 0,0 0 0,0 2 0,0 0 0,-1 2 0,28 9 0,-31-6-227,0-2-1,0 0 1,1-2-1,0 0 1,48-1-1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3:57:37.2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249 125 24575,'-27'-2'0,"-1"-1"0,-45-10 0,36 5 0,21 5 0,0-1 0,1 0 0,-21-10 0,36 12 0,8 0 0,11 0 0,112 4 0,72-3 0,-200 0 0,0 1 0,0-1 0,-1 0 0,1 0 0,0 0 0,0 0 0,0 0 0,-1-1 0,1 1 0,-1-1 0,1 1 0,2-4 0,-4 4 0,-1 1 0,1-1 0,-1 1 0,1-1 0,-1 1 0,0-1 0,1 1 0,-1-1 0,0 1 0,0-1 0,1 0 0,-1 1 0,0-1 0,0 1 0,0-1 0,0 0 0,0 1 0,1-1 0,-1 0 0,0 1 0,-1-1 0,1 0 0,0 0 0,0 0 0,-1 0 0,0 0 0,1 0 0,-1 0 0,0 0 0,0 0 0,0 0 0,0 1 0,0-1 0,0 0 0,0 0 0,0 1 0,0-1 0,0 1 0,0-1 0,0 1 0,-2-1 0,-61-21-1365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147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12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918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dist="83820" dir="2700000" algn="bl" rotWithShape="0">
              <a:srgbClr val="BBD9F5">
                <a:alpha val="10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526" y="243840"/>
            <a:ext cx="5419249" cy="774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623" y="1155382"/>
            <a:ext cx="7127796" cy="5265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0"/>
              </a:lnSpc>
              <a:buNone/>
            </a:pPr>
            <a:r>
              <a:rPr lang="en-US" sz="8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XgBoost: Extreme Gradient Boosting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1170623" y="6737152"/>
            <a:ext cx="7127796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powerful machine learning algorithm for classification and regression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dist="57150" dir="2700000" algn="bl" rotWithShape="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40951" y="1110139"/>
            <a:ext cx="3624858" cy="45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XgBoost Works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40951" y="1708190"/>
            <a:ext cx="4887158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Starts with an initial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0951" y="1990844"/>
            <a:ext cx="4887158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Calculates residuals (errors) from predictions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40951" y="2273498"/>
            <a:ext cx="4887158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Builds decision trees to predict residuals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0951" y="2556153"/>
            <a:ext cx="4887158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new tree learns from previous trees' mistakes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0951" y="2838807"/>
            <a:ext cx="4887158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Trees are weighted by a learning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0951" y="3121462"/>
            <a:ext cx="4887158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 repeats until residuals stop improving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345" y="1128355"/>
            <a:ext cx="434935" cy="1143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9179" y="1273254"/>
            <a:ext cx="2415421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Initial Prediction &amp; Residuals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69179" y="1644610"/>
            <a:ext cx="6927771" cy="463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 initial simple prediction is made. Errors (residuals) between actual and predicted values are calculated.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753" y="2398276"/>
            <a:ext cx="434935" cy="1143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86588" y="2543175"/>
            <a:ext cx="2078474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Tree 1 Predicts Residuals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986588" y="2914531"/>
            <a:ext cx="6710362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weak decision tree (Tree 1) is built specifically to predict the residuals from the initial prediction.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280" y="3436263"/>
            <a:ext cx="434935" cy="1143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04115" y="3581162"/>
            <a:ext cx="2271832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Add Tree 1 &amp; Update Model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204115" y="3952518"/>
            <a:ext cx="6492835" cy="463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Tree 1's prediction, scaled by a learning rate, is added to the initial prediction. This forms an updated model.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807" y="4706183"/>
            <a:ext cx="434935" cy="1143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21642" y="4851083"/>
            <a:ext cx="2242899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Iterate with Tree 2, Tree 3...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421642" y="5222438"/>
            <a:ext cx="6275308" cy="463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 residuals are calculated from the updated model. Subsequent trees (Tree 2, Tree 3, etc.) are built to predict these new residuals, continuously improving the model.</a:t>
            </a:r>
            <a:endParaRPr lang="en-US" sz="11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280" y="5976104"/>
            <a:ext cx="434935" cy="11430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04115" y="6121003"/>
            <a:ext cx="1812369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Final Prediction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204115" y="6492359"/>
            <a:ext cx="6492835" cy="463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final prediction is the sum of the initial prediction and all subsequent tree predictions, each scaled by their respective learning rates.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49473" y="7643574"/>
            <a:ext cx="1126808" cy="162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Gamma Tips &amp; Tricks</a:t>
            </a:r>
            <a:endParaRPr lang="en-US" sz="750" dirty="0"/>
          </a:p>
        </p:txBody>
      </p:sp>
      <p:sp>
        <p:nvSpPr>
          <p:cNvPr id="26" name="Text 19"/>
          <p:cNvSpPr/>
          <p:nvPr/>
        </p:nvSpPr>
        <p:spPr>
          <a:xfrm>
            <a:off x="13888998" y="7643574"/>
            <a:ext cx="191929" cy="162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96C62DD-7AAC-6285-F344-C5624D66C8F9}"/>
                  </a:ext>
                </a:extLst>
              </p14:cNvPr>
              <p14:cNvContentPartPr/>
              <p14:nvPr/>
            </p14:nvContentPartPr>
            <p14:xfrm>
              <a:off x="569544" y="7675706"/>
              <a:ext cx="961560" cy="162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96C62DD-7AAC-6285-F344-C5624D66C8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6904" y="7612706"/>
                <a:ext cx="1087200" cy="28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830979"/>
          </a:xfrm>
          <a:prstGeom prst="roundRect">
            <a:avLst>
              <a:gd name="adj" fmla="val 2673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dist="57150" dir="2700000" algn="bl" rotWithShape="0">
              <a:srgbClr val="BBD9F5">
                <a:alpha val="10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07" y="243840"/>
            <a:ext cx="5419249" cy="78309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03501" y="767120"/>
            <a:ext cx="4000143" cy="454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Advantages of XgBoost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6103501" y="1439466"/>
            <a:ext cx="7584519" cy="1418987"/>
          </a:xfrm>
          <a:prstGeom prst="roundRect">
            <a:avLst>
              <a:gd name="adj" fmla="val 9221"/>
            </a:avLst>
          </a:prstGeom>
          <a:solidFill>
            <a:srgbClr val="CEE6FD"/>
          </a:solidFill>
          <a:ln/>
        </p:spPr>
      </p:sp>
      <p:sp>
        <p:nvSpPr>
          <p:cNvPr id="6" name="Shape 3"/>
          <p:cNvSpPr/>
          <p:nvPr/>
        </p:nvSpPr>
        <p:spPr>
          <a:xfrm>
            <a:off x="6248876" y="1584841"/>
            <a:ext cx="436126" cy="436126"/>
          </a:xfrm>
          <a:prstGeom prst="roundRect">
            <a:avLst>
              <a:gd name="adj" fmla="val 20964321"/>
            </a:avLst>
          </a:prstGeom>
          <a:solidFill>
            <a:srgbClr val="84C1F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8772" y="1704737"/>
            <a:ext cx="196215" cy="1962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48876" y="2166342"/>
            <a:ext cx="1817132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 Performance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248876" y="2480548"/>
            <a:ext cx="7293769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Delivers superior accuracy on complex datasets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03501" y="3003828"/>
            <a:ext cx="7584519" cy="1418987"/>
          </a:xfrm>
          <a:prstGeom prst="roundRect">
            <a:avLst>
              <a:gd name="adj" fmla="val 9221"/>
            </a:avLst>
          </a:prstGeom>
          <a:solidFill>
            <a:srgbClr val="CEE6FD"/>
          </a:solidFill>
          <a:ln/>
        </p:spPr>
      </p:sp>
      <p:sp>
        <p:nvSpPr>
          <p:cNvPr id="11" name="Shape 7"/>
          <p:cNvSpPr/>
          <p:nvPr/>
        </p:nvSpPr>
        <p:spPr>
          <a:xfrm>
            <a:off x="6248876" y="3149203"/>
            <a:ext cx="436126" cy="436126"/>
          </a:xfrm>
          <a:prstGeom prst="roundRect">
            <a:avLst>
              <a:gd name="adj" fmla="val 20964321"/>
            </a:avLst>
          </a:prstGeom>
          <a:solidFill>
            <a:srgbClr val="84C1F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8772" y="3269099"/>
            <a:ext cx="196215" cy="196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8876" y="3730704"/>
            <a:ext cx="1817132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Speed &amp; Efficiency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248876" y="4044910"/>
            <a:ext cx="7293769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Optimized for fast training and predictions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03501" y="4568190"/>
            <a:ext cx="7584519" cy="1418987"/>
          </a:xfrm>
          <a:prstGeom prst="roundRect">
            <a:avLst>
              <a:gd name="adj" fmla="val 9221"/>
            </a:avLst>
          </a:prstGeom>
          <a:solidFill>
            <a:srgbClr val="CEE6FD"/>
          </a:solidFill>
          <a:ln/>
        </p:spPr>
      </p:sp>
      <p:sp>
        <p:nvSpPr>
          <p:cNvPr id="16" name="Shape 11"/>
          <p:cNvSpPr/>
          <p:nvPr/>
        </p:nvSpPr>
        <p:spPr>
          <a:xfrm>
            <a:off x="6248876" y="4713565"/>
            <a:ext cx="436126" cy="436126"/>
          </a:xfrm>
          <a:prstGeom prst="roundRect">
            <a:avLst>
              <a:gd name="adj" fmla="val 20964321"/>
            </a:avLst>
          </a:prstGeom>
          <a:solidFill>
            <a:srgbClr val="84C1F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8772" y="4833461"/>
            <a:ext cx="196215" cy="196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48876" y="5295067"/>
            <a:ext cx="1817132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Regularization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248876" y="5609273"/>
            <a:ext cx="7293769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Built-in techniques prevent overfitting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03501" y="6132552"/>
            <a:ext cx="7584519" cy="1418987"/>
          </a:xfrm>
          <a:prstGeom prst="roundRect">
            <a:avLst>
              <a:gd name="adj" fmla="val 9221"/>
            </a:avLst>
          </a:prstGeom>
          <a:solidFill>
            <a:srgbClr val="CEE6FD"/>
          </a:solidFill>
          <a:ln/>
        </p:spPr>
      </p:sp>
      <p:sp>
        <p:nvSpPr>
          <p:cNvPr id="21" name="Shape 15"/>
          <p:cNvSpPr/>
          <p:nvPr/>
        </p:nvSpPr>
        <p:spPr>
          <a:xfrm>
            <a:off x="6248876" y="6277928"/>
            <a:ext cx="436126" cy="436126"/>
          </a:xfrm>
          <a:prstGeom prst="roundRect">
            <a:avLst>
              <a:gd name="adj" fmla="val 20964321"/>
            </a:avLst>
          </a:prstGeom>
          <a:solidFill>
            <a:srgbClr val="84C1F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68772" y="6397823"/>
            <a:ext cx="196215" cy="19621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48876" y="6859429"/>
            <a:ext cx="1817132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Flexibility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248876" y="7173635"/>
            <a:ext cx="7293769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Works for both classification and regression tasks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710952" y="7731681"/>
            <a:ext cx="1129308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Gamma Tips &amp; Tricks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13885664" y="7731681"/>
            <a:ext cx="194905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021D08D-0421-2137-64B1-B2B9F51EFD7E}"/>
                  </a:ext>
                </a:extLst>
              </p14:cNvPr>
              <p14:cNvContentPartPr/>
              <p14:nvPr/>
            </p14:nvContentPartPr>
            <p14:xfrm>
              <a:off x="5737344" y="7777226"/>
              <a:ext cx="1065960" cy="1116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021D08D-0421-2137-64B1-B2B9F51EFD7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74344" y="7714226"/>
                <a:ext cx="119160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417FD04-701B-645E-9B0B-E5F907B9D159}"/>
                  </a:ext>
                </a:extLst>
              </p14:cNvPr>
              <p14:cNvContentPartPr/>
              <p14:nvPr/>
            </p14:nvContentPartPr>
            <p14:xfrm>
              <a:off x="6642744" y="7742306"/>
              <a:ext cx="146160" cy="45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417FD04-701B-645E-9B0B-E5F907B9D15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80104" y="7679306"/>
                <a:ext cx="271800" cy="17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246</Words>
  <Application>Microsoft Office PowerPoint</Application>
  <PresentationFormat>Custom</PresentationFormat>
  <Paragraphs>35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Instrument Sans Medium</vt:lpstr>
      <vt:lpstr>Instrument Sans Semi Bold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Omsai Alladwar</cp:lastModifiedBy>
  <cp:revision>3</cp:revision>
  <dcterms:created xsi:type="dcterms:W3CDTF">2025-12-09T03:54:35Z</dcterms:created>
  <dcterms:modified xsi:type="dcterms:W3CDTF">2025-12-09T03:58:20Z</dcterms:modified>
</cp:coreProperties>
</file>