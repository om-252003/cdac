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Inter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74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6.png"/><Relationship Id="rId7" Type="http://schemas.openxmlformats.org/officeDocument/2006/relationships/image" Target="../media/image37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svg"/><Relationship Id="rId11" Type="http://schemas.openxmlformats.org/officeDocument/2006/relationships/image" Target="../media/image22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17.sv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5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5.svg"/><Relationship Id="rId11" Type="http://schemas.openxmlformats.org/officeDocument/2006/relationships/image" Target="../media/image58.png"/><Relationship Id="rId5" Type="http://schemas.openxmlformats.org/officeDocument/2006/relationships/image" Target="../media/image54.png"/><Relationship Id="rId10" Type="http://schemas.openxmlformats.org/officeDocument/2006/relationships/image" Target="../media/image17.svg"/><Relationship Id="rId4" Type="http://schemas.openxmlformats.org/officeDocument/2006/relationships/image" Target="../media/image53.sv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10" Type="http://schemas.openxmlformats.org/officeDocument/2006/relationships/image" Target="../media/image77.svg"/><Relationship Id="rId4" Type="http://schemas.openxmlformats.org/officeDocument/2006/relationships/image" Target="../media/image71.sv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6548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Drowsiness Detection Using CNN and LSTM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1257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PG-DBDA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2123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Used: CNN, LSTM, Python, TensorFlow/Keras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28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85217"/>
            <a:ext cx="6407944" cy="4021455"/>
          </a:xfrm>
          <a:prstGeom prst="roundRect">
            <a:avLst>
              <a:gd name="adj" fmla="val 2369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715697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2881908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622953"/>
            <a:ext cx="3803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Driver Drowsiness?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11337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alertness and slower reaction time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455556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Caused by fatigue, long driving hours, or sleep deprivation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685217"/>
            <a:ext cx="6408063" cy="4021455"/>
          </a:xfrm>
          <a:prstGeom prst="roundRect">
            <a:avLst>
              <a:gd name="adj" fmla="val 2369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59027" y="2715697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2881908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5842" y="3622953"/>
            <a:ext cx="3933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Detection is Important?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85842" y="4113371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accidents due to drowsy driving: ~1.35 million annually (WHO)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685842" y="4918472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Fatigue-related crashes account for 20-30% of fatal accidents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685842" y="572357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 can prevent accidents and save lives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4581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of Manual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observers cannot monitor 24/7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Subjective and prone to errors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operational costs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77709"/>
            <a:ext cx="53737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Need for Automated Real-Time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without human intervention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and consistent detection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Cost-effective and scalable solution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alert generation for driver safety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564" y="550426"/>
            <a:ext cx="5004435" cy="62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Description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0564" y="1576149"/>
            <a:ext cx="1322927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model was trained and evaluated using a comprehensive dataset from Kaggle, specifically designed for drowsiness detection.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0564" y="2121456"/>
            <a:ext cx="6514505" cy="1589127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68" y="2344460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Source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23568" y="2777252"/>
            <a:ext cx="606849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 (Drowsiness-cut dataset)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5213" y="2121456"/>
            <a:ext cx="6514624" cy="1589127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8217" y="2344460"/>
            <a:ext cx="2568535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Specifications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38217" y="2777252"/>
            <a:ext cx="606861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 100×100×3 (RGB)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38217" y="3167420"/>
            <a:ext cx="606861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Format: PNG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00564" y="3910727"/>
            <a:ext cx="6514505" cy="1589127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68" y="4133731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23568" y="4566523"/>
            <a:ext cx="606849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Drowsy: Eyes closed or partially closed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23568" y="4956691"/>
            <a:ext cx="606849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Non-Drowsy: Eyes open and alert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5213" y="3910727"/>
            <a:ext cx="6514624" cy="1589127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8217" y="4133731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Samples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38217" y="4566523"/>
            <a:ext cx="606861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7K+ images for training and validation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00564" y="5699998"/>
            <a:ext cx="6514505" cy="1979295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923568" y="5923002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Split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23568" y="6355794"/>
            <a:ext cx="606849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Training: 80%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23568" y="6745962"/>
            <a:ext cx="606849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Validation: 20%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5213" y="5699998"/>
            <a:ext cx="6514624" cy="1979295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8217" y="5923002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638217" y="6355794"/>
            <a:ext cx="606861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are balanced to ensure fair training and prevent bias.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449" y="430173"/>
            <a:ext cx="4825722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System Workflow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9" y="1231821"/>
            <a:ext cx="782122" cy="938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5900" y="1388150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Video Input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85900" y="172628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webcam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49" y="2170390"/>
            <a:ext cx="782122" cy="9385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5900" y="232671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 Extraction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85900" y="266485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frames per second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49" y="3108960"/>
            <a:ext cx="782122" cy="9385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5900" y="326528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85900" y="360342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Resize to 100×100, normalize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49" y="4047530"/>
            <a:ext cx="782122" cy="9385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5900" y="4203859"/>
            <a:ext cx="2239089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CNN Feature Extraction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485900" y="454199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features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49" y="4986099"/>
            <a:ext cx="782122" cy="9385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5900" y="5142428"/>
            <a:ext cx="2671524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LSTM Sequence Processing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485900" y="548056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patterns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49" y="5924669"/>
            <a:ext cx="782122" cy="9385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85900" y="6080998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1485900" y="641913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Drowsy/Alert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449" y="6863239"/>
            <a:ext cx="782122" cy="93857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85900" y="7019568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Generation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1485900" y="7357705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drowsy detected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3068"/>
            <a:ext cx="6746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CNN Model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35637"/>
            <a:ext cx="4196358" cy="526089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20515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18954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2099548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2802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of CNN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29303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spatial features from images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51084" y="409813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eye patterns and facial features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2235637"/>
            <a:ext cx="4196358" cy="526089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216962" y="220515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860" y="18954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933" y="2099548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4256" y="2802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Layers Used: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74256" y="329303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Conv2D: 32, 64, 128 filters (3×3 kernels)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474256" y="409813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BatchNormalization: Stabilize training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474256" y="490323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MaxPooling: Reduce dimensionality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5474256" y="570833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Dense: Fully connected layers (256, 128 neurons)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5474256" y="651343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Dropout: Prevent overfitting (0.5 rate)</a:t>
            </a:r>
            <a:endParaRPr lang="en-US" sz="1750" dirty="0"/>
          </a:p>
        </p:txBody>
      </p:sp>
      <p:sp>
        <p:nvSpPr>
          <p:cNvPr id="20" name="Shape 16"/>
          <p:cNvSpPr/>
          <p:nvPr/>
        </p:nvSpPr>
        <p:spPr>
          <a:xfrm>
            <a:off x="9640133" y="2235637"/>
            <a:ext cx="4196358" cy="526089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9640133" y="220515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2" name="Shape 18"/>
          <p:cNvSpPr/>
          <p:nvPr/>
        </p:nvSpPr>
        <p:spPr>
          <a:xfrm>
            <a:off x="11398032" y="18954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2105" y="2099548"/>
            <a:ext cx="272177" cy="27217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97427" y="2802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CNN is Used?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897427" y="329303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for image classification</a:t>
            </a:r>
            <a:endParaRPr lang="en-US" sz="1750" dirty="0"/>
          </a:p>
        </p:txBody>
      </p:sp>
      <p:sp>
        <p:nvSpPr>
          <p:cNvPr id="26" name="Text 21"/>
          <p:cNvSpPr/>
          <p:nvPr/>
        </p:nvSpPr>
        <p:spPr>
          <a:xfrm>
            <a:off x="9897427" y="409813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local spatial patterns</a:t>
            </a:r>
            <a:endParaRPr lang="en-US" sz="1750" dirty="0"/>
          </a:p>
        </p:txBody>
      </p:sp>
      <p:sp>
        <p:nvSpPr>
          <p:cNvPr id="27" name="Text 22"/>
          <p:cNvSpPr/>
          <p:nvPr/>
        </p:nvSpPr>
        <p:spPr>
          <a:xfrm>
            <a:off x="9897427" y="454032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feature extraction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796" y="511373"/>
            <a:ext cx="5785604" cy="58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LSTM Model Architecture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0796" y="1743194"/>
            <a:ext cx="4318992" cy="3418403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50796" y="1720334"/>
            <a:ext cx="4318992" cy="91440"/>
          </a:xfrm>
          <a:prstGeom prst="roundRect">
            <a:avLst>
              <a:gd name="adj" fmla="val 85412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2531328" y="1464350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8611" y="1631633"/>
            <a:ext cx="223123" cy="2231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12" y="2208014"/>
            <a:ext cx="23243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of LSTM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12" y="2610088"/>
            <a:ext cx="3901559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temporal dependencies in sequences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9512" y="3270171"/>
            <a:ext cx="3901559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patterns across consecutive frames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155644" y="1743194"/>
            <a:ext cx="4318992" cy="3418403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155644" y="1720334"/>
            <a:ext cx="4318992" cy="91440"/>
          </a:xfrm>
          <a:prstGeom prst="roundRect">
            <a:avLst>
              <a:gd name="adj" fmla="val 85412"/>
            </a:avLst>
          </a:prstGeom>
          <a:solidFill>
            <a:srgbClr val="4950BC"/>
          </a:solidFill>
          <a:ln/>
        </p:spPr>
      </p:sp>
      <p:sp>
        <p:nvSpPr>
          <p:cNvPr id="12" name="Shape 9"/>
          <p:cNvSpPr/>
          <p:nvPr/>
        </p:nvSpPr>
        <p:spPr>
          <a:xfrm>
            <a:off x="7036177" y="1464350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3460" y="1631633"/>
            <a:ext cx="223123" cy="2231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4361" y="2208014"/>
            <a:ext cx="2842617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Configuration: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364361" y="2610088"/>
            <a:ext cx="390155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Length: 30 frames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364361" y="2972633"/>
            <a:ext cx="390155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Shape: (30, feature_size)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9660493" y="1743194"/>
            <a:ext cx="4319111" cy="3418403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9660493" y="1720334"/>
            <a:ext cx="4319111" cy="91440"/>
          </a:xfrm>
          <a:prstGeom prst="roundRect">
            <a:avLst>
              <a:gd name="adj" fmla="val 85412"/>
            </a:avLst>
          </a:prstGeom>
          <a:solidFill>
            <a:srgbClr val="4950BC"/>
          </a:solidFill>
          <a:ln/>
        </p:spPr>
      </p:sp>
      <p:sp>
        <p:nvSpPr>
          <p:cNvPr id="19" name="Shape 15"/>
          <p:cNvSpPr/>
          <p:nvPr/>
        </p:nvSpPr>
        <p:spPr>
          <a:xfrm>
            <a:off x="11541145" y="1464350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4950B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8428" y="1631633"/>
            <a:ext cx="223123" cy="2231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69210" y="2208014"/>
            <a:ext cx="23243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Layers Used: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869210" y="2610088"/>
            <a:ext cx="3901678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LSTM: 128 units with return_sequences=True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869210" y="3270171"/>
            <a:ext cx="3901678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LSTM: 64 units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9869210" y="3632716"/>
            <a:ext cx="3901678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Dropout: 0.3 rate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9869210" y="3995261"/>
            <a:ext cx="3901678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Dense: 32 neurons (ReLU activation)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9869210" y="4357807"/>
            <a:ext cx="3901678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Dense: 1 neuron (Sigmoid activation)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650796" y="5626298"/>
            <a:ext cx="13328809" cy="2098238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650796" y="5603438"/>
            <a:ext cx="13328809" cy="91440"/>
          </a:xfrm>
          <a:prstGeom prst="roundRect">
            <a:avLst>
              <a:gd name="adj" fmla="val 85412"/>
            </a:avLst>
          </a:prstGeom>
          <a:solidFill>
            <a:srgbClr val="4950BC"/>
          </a:solidFill>
          <a:ln/>
        </p:spPr>
      </p:sp>
      <p:sp>
        <p:nvSpPr>
          <p:cNvPr id="29" name="Shape 24"/>
          <p:cNvSpPr/>
          <p:nvPr/>
        </p:nvSpPr>
        <p:spPr>
          <a:xfrm>
            <a:off x="7036296" y="5347454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4950BC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3579" y="5514737"/>
            <a:ext cx="223123" cy="22312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59512" y="6091118"/>
            <a:ext cx="41500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Temporal Learning is Required?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859512" y="6493193"/>
            <a:ext cx="1291137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Drowsiness is a temporal phenomenon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859512" y="6855738"/>
            <a:ext cx="1291137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frame insufficient for accurate detection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859512" y="7218283"/>
            <a:ext cx="1291137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captures eye closure patterns over time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422" y="408861"/>
            <a:ext cx="6628090" cy="464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Combined CNN + LSTM Architecture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22" y="1170742"/>
            <a:ext cx="743426" cy="892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2438" y="1319332"/>
            <a:ext cx="185856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412438" y="1640800"/>
            <a:ext cx="126975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100×100×3 image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22" y="2062877"/>
            <a:ext cx="743426" cy="8921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2438" y="2211467"/>
            <a:ext cx="2127290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CNN Feature Extraction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412438" y="2532936"/>
            <a:ext cx="126975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Conv2D, BatchNorm, MaxPool layers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22" y="2955012"/>
            <a:ext cx="743426" cy="8921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2438" y="3103602"/>
            <a:ext cx="185856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Vector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22" y="3847148"/>
            <a:ext cx="743426" cy="8921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2438" y="3995738"/>
            <a:ext cx="185856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Buffer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412438" y="4317206"/>
            <a:ext cx="126975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frames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422" y="4739283"/>
            <a:ext cx="743426" cy="8921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2438" y="4887873"/>
            <a:ext cx="185856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LSTM Processing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412438" y="5209342"/>
            <a:ext cx="126975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units, 64 units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422" y="5631418"/>
            <a:ext cx="743426" cy="89213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12438" y="5780008"/>
            <a:ext cx="185856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Dense Layer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1412438" y="6101477"/>
            <a:ext cx="126975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neurons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422" y="6523553"/>
            <a:ext cx="743426" cy="89213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412438" y="6672143"/>
            <a:ext cx="185856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</a:t>
            </a:r>
            <a:endParaRPr lang="en-US" sz="1450" dirty="0"/>
          </a:p>
        </p:txBody>
      </p:sp>
      <p:sp>
        <p:nvSpPr>
          <p:cNvPr id="22" name="Text 13"/>
          <p:cNvSpPr/>
          <p:nvPr/>
        </p:nvSpPr>
        <p:spPr>
          <a:xfrm>
            <a:off x="1412438" y="6993612"/>
            <a:ext cx="126975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Drowsy/Alert probability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520422" y="7582853"/>
            <a:ext cx="13589556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CNN extracts spatial features from each frame, which are then buffered and processed by LSTM to capture temporal patterns for accurate drowsiness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17" y="1"/>
            <a:ext cx="11574517" cy="771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0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236" y="587931"/>
            <a:ext cx="5302448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Details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2236" y="1992987"/>
            <a:ext cx="4240530" cy="2728793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42236" y="1970127"/>
            <a:ext cx="4240530" cy="91440"/>
          </a:xfrm>
          <a:prstGeom prst="roundRect">
            <a:avLst>
              <a:gd name="adj" fmla="val 97421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2544366" y="1674852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5223" y="1865709"/>
            <a:ext cx="254437" cy="25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146" y="2523172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Optimizer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77146" y="2981682"/>
            <a:ext cx="377070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7146" y="3395067"/>
            <a:ext cx="377070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rate: 0.001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77146" y="3808452"/>
            <a:ext cx="377070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learning rate optimization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194816" y="1992987"/>
            <a:ext cx="4240649" cy="2728793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194816" y="1970127"/>
            <a:ext cx="4240649" cy="91440"/>
          </a:xfrm>
          <a:prstGeom prst="roundRect">
            <a:avLst>
              <a:gd name="adj" fmla="val 97421"/>
            </a:avLst>
          </a:prstGeom>
          <a:solidFill>
            <a:srgbClr val="4950BC"/>
          </a:solidFill>
          <a:ln/>
        </p:spPr>
      </p:sp>
      <p:sp>
        <p:nvSpPr>
          <p:cNvPr id="13" name="Shape 10"/>
          <p:cNvSpPr/>
          <p:nvPr/>
        </p:nvSpPr>
        <p:spPr>
          <a:xfrm>
            <a:off x="6996946" y="1674852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4950B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7803" y="1865709"/>
            <a:ext cx="254437" cy="25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9726" y="2523172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Loss Function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5429726" y="2981682"/>
            <a:ext cx="377082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Cross Entropy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429726" y="3395067"/>
            <a:ext cx="3770828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binary classification (Drowsy/Non-Drowsy)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9647515" y="1992987"/>
            <a:ext cx="4240530" cy="2728793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647515" y="1970127"/>
            <a:ext cx="4240530" cy="91440"/>
          </a:xfrm>
          <a:prstGeom prst="roundRect">
            <a:avLst>
              <a:gd name="adj" fmla="val 97421"/>
            </a:avLst>
          </a:prstGeom>
          <a:solidFill>
            <a:srgbClr val="4950BC"/>
          </a:solidFill>
          <a:ln/>
        </p:spPr>
      </p:sp>
      <p:sp>
        <p:nvSpPr>
          <p:cNvPr id="20" name="Shape 16"/>
          <p:cNvSpPr/>
          <p:nvPr/>
        </p:nvSpPr>
        <p:spPr>
          <a:xfrm>
            <a:off x="11449645" y="1674852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4950B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40502" y="1865709"/>
            <a:ext cx="254437" cy="25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82426" y="2523172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Stopping</a:t>
            </a:r>
            <a:endParaRPr lang="en-US" sz="2050" dirty="0"/>
          </a:p>
        </p:txBody>
      </p:sp>
      <p:sp>
        <p:nvSpPr>
          <p:cNvPr id="23" name="Text 18"/>
          <p:cNvSpPr/>
          <p:nvPr/>
        </p:nvSpPr>
        <p:spPr>
          <a:xfrm>
            <a:off x="9882426" y="2981682"/>
            <a:ext cx="377070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validation loss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882426" y="3395067"/>
            <a:ext cx="377070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Patience: 5 epochs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9882426" y="3808452"/>
            <a:ext cx="377070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overfitting</a:t>
            </a:r>
            <a:endParaRPr lang="en-US" sz="1650" dirty="0"/>
          </a:p>
        </p:txBody>
      </p:sp>
      <p:sp>
        <p:nvSpPr>
          <p:cNvPr id="26" name="Shape 21"/>
          <p:cNvSpPr/>
          <p:nvPr/>
        </p:nvSpPr>
        <p:spPr>
          <a:xfrm>
            <a:off x="742236" y="5251966"/>
            <a:ext cx="6466880" cy="238958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742236" y="5229106"/>
            <a:ext cx="6466880" cy="91440"/>
          </a:xfrm>
          <a:prstGeom prst="roundRect">
            <a:avLst>
              <a:gd name="adj" fmla="val 97421"/>
            </a:avLst>
          </a:prstGeom>
          <a:solidFill>
            <a:srgbClr val="4950BC"/>
          </a:solidFill>
          <a:ln/>
        </p:spPr>
      </p:sp>
      <p:sp>
        <p:nvSpPr>
          <p:cNvPr id="28" name="Shape 23"/>
          <p:cNvSpPr/>
          <p:nvPr/>
        </p:nvSpPr>
        <p:spPr>
          <a:xfrm>
            <a:off x="3657481" y="4933831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4950BC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8338" y="5124688"/>
            <a:ext cx="254437" cy="25443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7146" y="5782151"/>
            <a:ext cx="3348514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Imbalance Handling</a:t>
            </a:r>
            <a:endParaRPr lang="en-US" sz="2050" dirty="0"/>
          </a:p>
        </p:txBody>
      </p:sp>
      <p:sp>
        <p:nvSpPr>
          <p:cNvPr id="31" name="Text 25"/>
          <p:cNvSpPr/>
          <p:nvPr/>
        </p:nvSpPr>
        <p:spPr>
          <a:xfrm>
            <a:off x="977146" y="6240661"/>
            <a:ext cx="599705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weights: {0: 1.0, 1: 1.5}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977146" y="6654046"/>
            <a:ext cx="599705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loss function</a:t>
            </a:r>
            <a:endParaRPr lang="en-US" sz="1650" dirty="0"/>
          </a:p>
        </p:txBody>
      </p:sp>
      <p:sp>
        <p:nvSpPr>
          <p:cNvPr id="33" name="Text 27"/>
          <p:cNvSpPr/>
          <p:nvPr/>
        </p:nvSpPr>
        <p:spPr>
          <a:xfrm>
            <a:off x="977146" y="7067431"/>
            <a:ext cx="599705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fair training for minority class</a:t>
            </a:r>
            <a:endParaRPr lang="en-US" sz="1650" dirty="0"/>
          </a:p>
        </p:txBody>
      </p:sp>
      <p:sp>
        <p:nvSpPr>
          <p:cNvPr id="34" name="Shape 28"/>
          <p:cNvSpPr/>
          <p:nvPr/>
        </p:nvSpPr>
        <p:spPr>
          <a:xfrm>
            <a:off x="7421166" y="5251966"/>
            <a:ext cx="6466880" cy="238958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7421166" y="5229106"/>
            <a:ext cx="6466880" cy="91440"/>
          </a:xfrm>
          <a:prstGeom prst="roundRect">
            <a:avLst>
              <a:gd name="adj" fmla="val 97421"/>
            </a:avLst>
          </a:prstGeom>
          <a:solidFill>
            <a:srgbClr val="4950BC"/>
          </a:solidFill>
          <a:ln/>
        </p:spPr>
      </p:sp>
      <p:sp>
        <p:nvSpPr>
          <p:cNvPr id="36" name="Shape 30"/>
          <p:cNvSpPr/>
          <p:nvPr/>
        </p:nvSpPr>
        <p:spPr>
          <a:xfrm>
            <a:off x="10336411" y="4933831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4950BC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7268" y="5124688"/>
            <a:ext cx="254437" cy="254437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656076" y="5782151"/>
            <a:ext cx="2914174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Configuration</a:t>
            </a:r>
            <a:endParaRPr lang="en-US" sz="2050" dirty="0"/>
          </a:p>
        </p:txBody>
      </p:sp>
      <p:sp>
        <p:nvSpPr>
          <p:cNvPr id="39" name="Text 32"/>
          <p:cNvSpPr/>
          <p:nvPr/>
        </p:nvSpPr>
        <p:spPr>
          <a:xfrm>
            <a:off x="7656076" y="6240661"/>
            <a:ext cx="599705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Size: 30</a:t>
            </a:r>
            <a:endParaRPr lang="en-US" sz="1650" dirty="0"/>
          </a:p>
        </p:txBody>
      </p:sp>
      <p:sp>
        <p:nvSpPr>
          <p:cNvPr id="40" name="Text 33"/>
          <p:cNvSpPr/>
          <p:nvPr/>
        </p:nvSpPr>
        <p:spPr>
          <a:xfrm>
            <a:off x="7656076" y="6654046"/>
            <a:ext cx="599705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Epochs: 30 (with early stopping)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624"/>
            <a:ext cx="5557480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Detection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954" y="1778675"/>
            <a:ext cx="222290" cy="2222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954" y="2098119"/>
            <a:ext cx="6426041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2"/>
          <p:cNvSpPr/>
          <p:nvPr/>
        </p:nvSpPr>
        <p:spPr>
          <a:xfrm>
            <a:off x="777954" y="2270165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Webcam Input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77954" y="2750820"/>
            <a:ext cx="642604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video stream from camera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77954" y="3184207"/>
            <a:ext cx="642604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capability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6285" y="1778675"/>
            <a:ext cx="222290" cy="2222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26285" y="2098119"/>
            <a:ext cx="6426160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6"/>
          <p:cNvSpPr/>
          <p:nvPr/>
        </p:nvSpPr>
        <p:spPr>
          <a:xfrm>
            <a:off x="7426285" y="2270165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 Processing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7426285" y="2750820"/>
            <a:ext cx="642616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frames at 30 FPS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426285" y="3184207"/>
            <a:ext cx="642616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Resize to 100×100 pixels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426285" y="3617595"/>
            <a:ext cx="642616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pixel values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426285" y="4050983"/>
            <a:ext cx="642616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30 frames for LSTM input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954" y="4823341"/>
            <a:ext cx="222290" cy="22229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77954" y="5142786"/>
            <a:ext cx="6426041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2"/>
          <p:cNvSpPr/>
          <p:nvPr/>
        </p:nvSpPr>
        <p:spPr>
          <a:xfrm>
            <a:off x="777954" y="5314831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Generation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777954" y="5795486"/>
            <a:ext cx="642604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Probability threshold: 0.5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77954" y="6228874"/>
            <a:ext cx="642604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probability &gt; 0.5: ALERT alert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777954" y="6662261"/>
            <a:ext cx="642604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probability ≤ 0.5: DROWSY (driver is drowsy)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777954" y="7095649"/>
            <a:ext cx="642604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Audio/Visual alert triggered immediately</a:t>
            </a:r>
            <a:endParaRPr lang="en-US" sz="17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6285" y="4823341"/>
            <a:ext cx="222290" cy="22229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426285" y="5142786"/>
            <a:ext cx="6426160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4" name="Text 18"/>
          <p:cNvSpPr/>
          <p:nvPr/>
        </p:nvSpPr>
        <p:spPr>
          <a:xfrm>
            <a:off x="7426285" y="5314831"/>
            <a:ext cx="286881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</a:t>
            </a:r>
            <a:endParaRPr lang="en-US" sz="2150" dirty="0"/>
          </a:p>
        </p:txBody>
      </p:sp>
      <p:sp>
        <p:nvSpPr>
          <p:cNvPr id="25" name="Text 19"/>
          <p:cNvSpPr/>
          <p:nvPr/>
        </p:nvSpPr>
        <p:spPr>
          <a:xfrm>
            <a:off x="7426285" y="5795486"/>
            <a:ext cx="642616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Latency: &lt;100ms per frame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7426285" y="6228874"/>
            <a:ext cx="642616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on CPU/GPU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1339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and Evaluation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model demonstrated robust performance across various metrics, confirming the effectiveness of the CNN-LSTM hybrid approach.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123009" y="1939052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94.5%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014" y="1230273"/>
            <a:ext cx="1701165" cy="1701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11818" y="307312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6835" y="3318272"/>
            <a:ext cx="68475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correct predictions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112216" y="1939052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93.2%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221" y="1230273"/>
            <a:ext cx="1701165" cy="1701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01024" y="307312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386042" y="3318272"/>
            <a:ext cx="68475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positive predictions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123009" y="4463653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95.8%</a:t>
            </a:r>
            <a:endParaRPr lang="en-US" sz="2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014" y="3754874"/>
            <a:ext cx="1701165" cy="1701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11818" y="55977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96835" y="5842873"/>
            <a:ext cx="68475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positives identified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0112216" y="4463653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94.5%</a:t>
            </a:r>
            <a:endParaRPr lang="en-US" sz="2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9221" y="3754874"/>
            <a:ext cx="1701165" cy="1701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01024" y="55977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86042" y="5842873"/>
            <a:ext cx="68475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of precision &amp; recall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396835" y="615184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confusion matrix further illustrates the model's ability to distinguish between drowsy and alert states with high reliability.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96835" y="6517481"/>
            <a:ext cx="3352919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1,245</a:t>
            </a:r>
            <a:endParaRPr lang="en-US" sz="3500" dirty="0"/>
          </a:p>
        </p:txBody>
      </p:sp>
      <p:sp>
        <p:nvSpPr>
          <p:cNvPr id="22" name="Text 16"/>
          <p:cNvSpPr/>
          <p:nvPr/>
        </p:nvSpPr>
        <p:spPr>
          <a:xfrm>
            <a:off x="1364456" y="71070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 Positives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96835" y="7352228"/>
            <a:ext cx="335291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Drowsy detected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3891439" y="6517481"/>
            <a:ext cx="3352919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1,189</a:t>
            </a:r>
            <a:endParaRPr lang="en-US" sz="3500" dirty="0"/>
          </a:p>
        </p:txBody>
      </p:sp>
      <p:sp>
        <p:nvSpPr>
          <p:cNvPr id="25" name="Text 19"/>
          <p:cNvSpPr/>
          <p:nvPr/>
        </p:nvSpPr>
        <p:spPr>
          <a:xfrm>
            <a:off x="4859060" y="71070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 Negatives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891439" y="7352228"/>
            <a:ext cx="335291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detected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386042" y="6517481"/>
            <a:ext cx="3352919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</a:t>
            </a:r>
            <a:endParaRPr lang="en-US" sz="3500" dirty="0"/>
          </a:p>
        </p:txBody>
      </p:sp>
      <p:sp>
        <p:nvSpPr>
          <p:cNvPr id="28" name="Text 22"/>
          <p:cNvSpPr/>
          <p:nvPr/>
        </p:nvSpPr>
        <p:spPr>
          <a:xfrm>
            <a:off x="8353663" y="71070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86042" y="7352228"/>
            <a:ext cx="335291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incorrectly identified as drowsy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0880646" y="6517481"/>
            <a:ext cx="3352919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51</a:t>
            </a:r>
            <a:endParaRPr lang="en-US" sz="3500" dirty="0"/>
          </a:p>
        </p:txBody>
      </p:sp>
      <p:sp>
        <p:nvSpPr>
          <p:cNvPr id="31" name="Text 25"/>
          <p:cNvSpPr/>
          <p:nvPr/>
        </p:nvSpPr>
        <p:spPr>
          <a:xfrm>
            <a:off x="11848267" y="71070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0880646" y="7352228"/>
            <a:ext cx="335291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Drowsy incorrectly identified as alert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396835" y="7717869"/>
            <a:ext cx="6305074" cy="141684"/>
          </a:xfrm>
          <a:prstGeom prst="roundRect">
            <a:avLst>
              <a:gd name="adj" fmla="val 336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96835" y="7717869"/>
            <a:ext cx="6002417" cy="141684"/>
          </a:xfrm>
          <a:prstGeom prst="roundRect">
            <a:avLst>
              <a:gd name="adj" fmla="val 33620"/>
            </a:avLst>
          </a:prstGeom>
          <a:solidFill>
            <a:srgbClr val="4950BC"/>
          </a:solidFill>
          <a:ln/>
        </p:spPr>
      </p:sp>
      <p:sp>
        <p:nvSpPr>
          <p:cNvPr id="35" name="Text 29"/>
          <p:cNvSpPr/>
          <p:nvPr/>
        </p:nvSpPr>
        <p:spPr>
          <a:xfrm>
            <a:off x="6786920" y="7717869"/>
            <a:ext cx="45743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95.2%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396835" y="8001238"/>
            <a:ext cx="162294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Drowsy Class Precision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386042" y="7717869"/>
            <a:ext cx="6343174" cy="141684"/>
          </a:xfrm>
          <a:prstGeom prst="roundRect">
            <a:avLst>
              <a:gd name="adj" fmla="val 336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386042" y="7717869"/>
            <a:ext cx="6095762" cy="141684"/>
          </a:xfrm>
          <a:prstGeom prst="roundRect">
            <a:avLst>
              <a:gd name="adj" fmla="val 33620"/>
            </a:avLst>
          </a:prstGeom>
          <a:solidFill>
            <a:srgbClr val="4950BC"/>
          </a:solidFill>
          <a:ln/>
        </p:spPr>
      </p:sp>
      <p:sp>
        <p:nvSpPr>
          <p:cNvPr id="39" name="Text 33"/>
          <p:cNvSpPr/>
          <p:nvPr/>
        </p:nvSpPr>
        <p:spPr>
          <a:xfrm>
            <a:off x="13814227" y="7717869"/>
            <a:ext cx="41933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96.1%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386042" y="800123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Drowsy Class Recall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396835" y="8461891"/>
            <a:ext cx="6303526" cy="141684"/>
          </a:xfrm>
          <a:prstGeom prst="roundRect">
            <a:avLst>
              <a:gd name="adj" fmla="val 336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96835" y="8461891"/>
            <a:ext cx="5893713" cy="141684"/>
          </a:xfrm>
          <a:prstGeom prst="roundRect">
            <a:avLst>
              <a:gd name="adj" fmla="val 33620"/>
            </a:avLst>
          </a:prstGeom>
          <a:solidFill>
            <a:srgbClr val="4950BC"/>
          </a:solidFill>
          <a:ln/>
        </p:spPr>
      </p:sp>
      <p:sp>
        <p:nvSpPr>
          <p:cNvPr id="43" name="Text 37"/>
          <p:cNvSpPr/>
          <p:nvPr/>
        </p:nvSpPr>
        <p:spPr>
          <a:xfrm>
            <a:off x="6785372" y="8461891"/>
            <a:ext cx="458986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93.5%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396835" y="8745260"/>
            <a:ext cx="197238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Non-Drowsy Class Precision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7386042" y="8461891"/>
            <a:ext cx="6306145" cy="141684"/>
          </a:xfrm>
          <a:prstGeom prst="roundRect">
            <a:avLst>
              <a:gd name="adj" fmla="val 336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386042" y="8461891"/>
            <a:ext cx="6041231" cy="141684"/>
          </a:xfrm>
          <a:prstGeom prst="roundRect">
            <a:avLst>
              <a:gd name="adj" fmla="val 33620"/>
            </a:avLst>
          </a:prstGeom>
          <a:solidFill>
            <a:srgbClr val="4950BC"/>
          </a:solidFill>
          <a:ln/>
        </p:spPr>
      </p:sp>
      <p:sp>
        <p:nvSpPr>
          <p:cNvPr id="47" name="Text 41"/>
          <p:cNvSpPr/>
          <p:nvPr/>
        </p:nvSpPr>
        <p:spPr>
          <a:xfrm>
            <a:off x="13777198" y="8461891"/>
            <a:ext cx="45636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95.8%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7386042" y="8745260"/>
            <a:ext cx="174688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Non-Drowsy Class Recall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396835" y="9092446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Findings: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396835" y="9475113"/>
            <a:ext cx="4536638" cy="865227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525423" y="9603700"/>
            <a:ext cx="181225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Approach Superior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525423" y="9848850"/>
            <a:ext cx="427946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CNN-LSTM hybrid approach outperforms single models in drowsiness detection.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5046821" y="9475113"/>
            <a:ext cx="4536638" cy="865227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175409" y="9603700"/>
            <a:ext cx="181534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Features Crucial</a:t>
            </a:r>
            <a:endParaRPr lang="en-US" sz="1100" dirty="0"/>
          </a:p>
        </p:txBody>
      </p:sp>
      <p:sp>
        <p:nvSpPr>
          <p:cNvPr id="55" name="Text 49"/>
          <p:cNvSpPr/>
          <p:nvPr/>
        </p:nvSpPr>
        <p:spPr>
          <a:xfrm>
            <a:off x="5175409" y="9848850"/>
            <a:ext cx="427946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integration of temporal features is crucial for accurate and reliable detection.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9696807" y="9475113"/>
            <a:ext cx="4536638" cy="865227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9825395" y="9603700"/>
            <a:ext cx="161103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Minimal False Positives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9825395" y="9848850"/>
            <a:ext cx="42794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false positives ensure driver confidence and prevent unnecessary alerts.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696992"/>
            <a:ext cx="4899779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5919" y="1995249"/>
            <a:ext cx="4288869" cy="2837140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919" y="1972389"/>
            <a:ext cx="4288869" cy="91440"/>
          </a:xfrm>
          <a:prstGeom prst="roundRect">
            <a:avLst>
              <a:gd name="adj" fmla="val 90024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2536388" y="1701284"/>
            <a:ext cx="587931" cy="587931"/>
          </a:xfrm>
          <a:prstGeom prst="roundRect">
            <a:avLst>
              <a:gd name="adj" fmla="val 155528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2720" y="1877616"/>
            <a:ext cx="235148" cy="2351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4756" y="2485192"/>
            <a:ext cx="282690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Performance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04756" y="2908935"/>
            <a:ext cx="385119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video at 30 FPS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4756" y="3291007"/>
            <a:ext cx="385119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&lt; 100ms per frame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4756" y="3673078"/>
            <a:ext cx="385119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live deployment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170765" y="1995249"/>
            <a:ext cx="4288869" cy="2837140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170765" y="1972389"/>
            <a:ext cx="4288869" cy="91440"/>
          </a:xfrm>
          <a:prstGeom prst="roundRect">
            <a:avLst>
              <a:gd name="adj" fmla="val 90024"/>
            </a:avLst>
          </a:prstGeom>
          <a:solidFill>
            <a:srgbClr val="4950BC"/>
          </a:solidFill>
          <a:ln/>
        </p:spPr>
      </p:sp>
      <p:sp>
        <p:nvSpPr>
          <p:cNvPr id="13" name="Shape 10"/>
          <p:cNvSpPr/>
          <p:nvPr/>
        </p:nvSpPr>
        <p:spPr>
          <a:xfrm>
            <a:off x="7021235" y="1701284"/>
            <a:ext cx="587931" cy="587931"/>
          </a:xfrm>
          <a:prstGeom prst="roundRect">
            <a:avLst>
              <a:gd name="adj" fmla="val 155528"/>
            </a:avLst>
          </a:prstGeom>
          <a:solidFill>
            <a:srgbClr val="4950B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7566" y="1877616"/>
            <a:ext cx="235148" cy="2351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9602" y="2485192"/>
            <a:ext cx="316146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False Predictions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389602" y="2908935"/>
            <a:ext cx="385119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precision (93.2%) and recall (95.8%)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89602" y="3604498"/>
            <a:ext cx="385119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false positives and false negatives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389602" y="4300061"/>
            <a:ext cx="385119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for critical safety applications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655612" y="1995249"/>
            <a:ext cx="4288869" cy="2837140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9655612" y="1972389"/>
            <a:ext cx="4288869" cy="91440"/>
          </a:xfrm>
          <a:prstGeom prst="roundRect">
            <a:avLst>
              <a:gd name="adj" fmla="val 90024"/>
            </a:avLst>
          </a:prstGeom>
          <a:solidFill>
            <a:srgbClr val="4950BC"/>
          </a:solidFill>
          <a:ln/>
        </p:spPr>
      </p:sp>
      <p:sp>
        <p:nvSpPr>
          <p:cNvPr id="21" name="Shape 17"/>
          <p:cNvSpPr/>
          <p:nvPr/>
        </p:nvSpPr>
        <p:spPr>
          <a:xfrm>
            <a:off x="11506081" y="1701284"/>
            <a:ext cx="587931" cy="587931"/>
          </a:xfrm>
          <a:prstGeom prst="roundRect">
            <a:avLst>
              <a:gd name="adj" fmla="val 155528"/>
            </a:avLst>
          </a:prstGeom>
          <a:solidFill>
            <a:srgbClr val="4950B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2413" y="1877616"/>
            <a:ext cx="235148" cy="2351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74448" y="2485192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874448" y="2908935"/>
            <a:ext cx="385119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on CPU and GPU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9874448" y="3291007"/>
            <a:ext cx="385119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be deployed on edge devices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874448" y="3673078"/>
            <a:ext cx="385119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model suitable for embedded systems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85919" y="5322332"/>
            <a:ext cx="6531293" cy="2210157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685919" y="5299472"/>
            <a:ext cx="6531293" cy="91440"/>
          </a:xfrm>
          <a:prstGeom prst="roundRect">
            <a:avLst>
              <a:gd name="adj" fmla="val 90024"/>
            </a:avLst>
          </a:prstGeom>
          <a:solidFill>
            <a:srgbClr val="4950BC"/>
          </a:solidFill>
          <a:ln/>
        </p:spPr>
      </p:sp>
      <p:sp>
        <p:nvSpPr>
          <p:cNvPr id="29" name="Shape 24"/>
          <p:cNvSpPr/>
          <p:nvPr/>
        </p:nvSpPr>
        <p:spPr>
          <a:xfrm>
            <a:off x="3657600" y="5028367"/>
            <a:ext cx="587931" cy="587931"/>
          </a:xfrm>
          <a:prstGeom prst="roundRect">
            <a:avLst>
              <a:gd name="adj" fmla="val 155528"/>
            </a:avLst>
          </a:prstGeom>
          <a:solidFill>
            <a:srgbClr val="4950BC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3932" y="5204698"/>
            <a:ext cx="235148" cy="2351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4756" y="5812274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Robustness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904756" y="6236018"/>
            <a:ext cx="609361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varying lighting conditions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04756" y="6618089"/>
            <a:ext cx="609361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different face orientations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04756" y="7000161"/>
            <a:ext cx="609361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across diverse user demographics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7413188" y="5322332"/>
            <a:ext cx="6531293" cy="2210157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</p:spPr>
      </p:sp>
      <p:sp>
        <p:nvSpPr>
          <p:cNvPr id="36" name="Shape 30"/>
          <p:cNvSpPr/>
          <p:nvPr/>
        </p:nvSpPr>
        <p:spPr>
          <a:xfrm>
            <a:off x="7413188" y="5299472"/>
            <a:ext cx="6531293" cy="91440"/>
          </a:xfrm>
          <a:prstGeom prst="roundRect">
            <a:avLst>
              <a:gd name="adj" fmla="val 90024"/>
            </a:avLst>
          </a:prstGeom>
          <a:solidFill>
            <a:srgbClr val="4950BC"/>
          </a:solidFill>
          <a:ln/>
        </p:spPr>
      </p:sp>
      <p:sp>
        <p:nvSpPr>
          <p:cNvPr id="37" name="Shape 31"/>
          <p:cNvSpPr/>
          <p:nvPr/>
        </p:nvSpPr>
        <p:spPr>
          <a:xfrm>
            <a:off x="10384869" y="5028367"/>
            <a:ext cx="587931" cy="587931"/>
          </a:xfrm>
          <a:prstGeom prst="roundRect">
            <a:avLst>
              <a:gd name="adj" fmla="val 155528"/>
            </a:avLst>
          </a:prstGeom>
          <a:solidFill>
            <a:srgbClr val="4950BC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1201" y="5204698"/>
            <a:ext cx="235148" cy="23514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632025" y="5812274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Cost-Effective</a:t>
            </a:r>
            <a:endParaRPr lang="en-US" sz="1900" dirty="0"/>
          </a:p>
        </p:txBody>
      </p:sp>
      <p:sp>
        <p:nvSpPr>
          <p:cNvPr id="40" name="Text 33"/>
          <p:cNvSpPr/>
          <p:nvPr/>
        </p:nvSpPr>
        <p:spPr>
          <a:xfrm>
            <a:off x="7632025" y="6236018"/>
            <a:ext cx="609361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specialized hardware required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7632025" y="6618089"/>
            <a:ext cx="609361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standard webcam input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7632025" y="7000161"/>
            <a:ext cx="609361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operational costs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305" y="689729"/>
            <a:ext cx="5166955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305" y="1748909"/>
            <a:ext cx="516612" cy="516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3305" y="2523768"/>
            <a:ext cx="2815590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Safety Systems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23305" y="2970609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into vehicle dashboards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3305" y="3373517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 to prevent accidents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3305" y="3776424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fatigue-related crashes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3984" y="1748909"/>
            <a:ext cx="516612" cy="516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3984" y="2523768"/>
            <a:ext cx="258341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Vehicles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203984" y="2970609"/>
            <a:ext cx="4222433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vehicle safety enhancement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203984" y="3704153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system for self-driving cars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203984" y="4107061"/>
            <a:ext cx="4222433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driver attention in semi-autonomous modes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4663" y="1748909"/>
            <a:ext cx="516612" cy="516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84663" y="2523768"/>
            <a:ext cx="258341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Accident Prevention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9684663" y="2970609"/>
            <a:ext cx="4222433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warning system for drowsy drivers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684663" y="3704153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road fatalities and injuries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684663" y="4107061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overall traffic safety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305" y="5181600"/>
            <a:ext cx="516612" cy="516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3305" y="5956459"/>
            <a:ext cx="299751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Transportation Industry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23305" y="6403300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vehicle monitoring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23305" y="6806208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management systems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23305" y="7209115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with safety regulations</a:t>
            </a:r>
            <a:endParaRPr lang="en-US" sz="1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03984" y="5181600"/>
            <a:ext cx="516612" cy="5166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03984" y="5956459"/>
            <a:ext cx="336232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Healthcare and Monitoring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5203984" y="6403300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monitoring in hospitals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203984" y="6806208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Fatigue detection in critical operations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203984" y="7209115"/>
            <a:ext cx="42224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Workplace safety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653" y="513517"/>
            <a:ext cx="4669274" cy="58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3653" y="1470660"/>
            <a:ext cx="13323094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journey through the Drowsiness Detection System has highlighted a robust and efficient solution for a critical real-world problem. Here's a summary of its performance, key achievements, and profound impact: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3653" y="2278380"/>
            <a:ext cx="4316492" cy="3701653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793" y="2278380"/>
            <a:ext cx="91440" cy="3701653"/>
          </a:xfrm>
          <a:prstGeom prst="roundRect">
            <a:avLst>
              <a:gd name="adj" fmla="val 85788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931783" y="2487930"/>
            <a:ext cx="3828812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of System Performance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1783" y="3183612"/>
            <a:ext cx="382881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developed CNN-LSTM hybrid model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1783" y="3846671"/>
            <a:ext cx="382881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94.5% accuracy on test dataset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1783" y="4509730"/>
            <a:ext cx="382881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 with &lt;100ms latency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1783" y="5172789"/>
            <a:ext cx="382881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false positives (85 out of 1,570 predictions)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156835" y="2278380"/>
            <a:ext cx="4316611" cy="3701653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3975" y="2278380"/>
            <a:ext cx="91440" cy="3701653"/>
          </a:xfrm>
          <a:prstGeom prst="roundRect">
            <a:avLst>
              <a:gd name="adj" fmla="val 85788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34965" y="2487930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34965" y="2891790"/>
            <a:ext cx="3828931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spatial-temporal feature extraction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34965" y="3554849"/>
            <a:ext cx="3828931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drowsiness detection across diverse conditions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34965" y="4217908"/>
            <a:ext cx="382893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and cost-effective solution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34965" y="4582120"/>
            <a:ext cx="382893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real-world deployment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60136" y="2278380"/>
            <a:ext cx="4316611" cy="3701653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276" y="2278380"/>
            <a:ext cx="91440" cy="3701653"/>
          </a:xfrm>
          <a:prstGeom prst="roundRect">
            <a:avLst>
              <a:gd name="adj" fmla="val 85788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9938266" y="2487930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38266" y="2891790"/>
            <a:ext cx="3828931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to save thousands of lives annually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938266" y="3554849"/>
            <a:ext cx="382893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road accidents and injuries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938266" y="3919061"/>
            <a:ext cx="382893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driver and passenger safety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938266" y="4283273"/>
            <a:ext cx="382893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to smart vehicle technology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3653" y="6190059"/>
            <a:ext cx="1332309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Ultimately, the goal of this project extends beyond technological innovation to direct, life-saving applications.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3807" y="6908959"/>
            <a:ext cx="13042940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CNN-LSTM hybrid approach demonstrates the power of combining deep learning architectures to solve critical real-world problems. This system is a significant step toward safer roads and smarter vehicles."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3653" y="6698933"/>
            <a:ext cx="22860" cy="1017746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851" y="557689"/>
            <a:ext cx="5409128" cy="633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851" y="1596985"/>
            <a:ext cx="506968" cy="506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9851" y="2357438"/>
            <a:ext cx="25351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Yawn Detection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09851" y="2795945"/>
            <a:ext cx="6478548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model to detect yawning as additional drowsiness indicator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09851" y="3515558"/>
            <a:ext cx="6478548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eye closure and yawn detection for improved accuracy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09851" y="4235172"/>
            <a:ext cx="6478548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approach for comprehensive fatigue assessment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1883" y="1596985"/>
            <a:ext cx="506968" cy="5069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41883" y="2357438"/>
            <a:ext cx="25351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Attention Scoring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7441883" y="2795945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attention level scoring system (0-100%)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441883" y="3191232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continuous driver alertness metrics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41883" y="3586520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gradual alerts before critical drowsiness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41883" y="3981807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driver feedback and awareness</a:t>
            </a:r>
            <a:endParaRPr lang="en-US" sz="15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9851" y="4965025"/>
            <a:ext cx="506968" cy="5069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851" y="5725477"/>
            <a:ext cx="25351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Deployment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09851" y="6163985"/>
            <a:ext cx="6478548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model for mobile devices (Android/iOS)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09851" y="6559272"/>
            <a:ext cx="6478548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model size for edge computing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09851" y="6954560"/>
            <a:ext cx="6478548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smartphone-based drowsiness detection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09851" y="7349847"/>
            <a:ext cx="6478548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 accessibility and adoption</a:t>
            </a:r>
            <a:endParaRPr lang="en-US" sz="15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1883" y="4965025"/>
            <a:ext cx="506968" cy="5069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41883" y="5725477"/>
            <a:ext cx="25351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Features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441883" y="6163985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vehicle control systems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41883" y="6559272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 updates with new data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41883" y="6954560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Multi-person detection for shared vehicles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441883" y="7349847"/>
            <a:ext cx="6478667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IoT and smart home systems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1234</Words>
  <Application>Microsoft Office PowerPoint</Application>
  <PresentationFormat>Custom</PresentationFormat>
  <Paragraphs>273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Omsai Alladwar</cp:lastModifiedBy>
  <cp:revision>5</cp:revision>
  <dcterms:created xsi:type="dcterms:W3CDTF">2025-12-20T20:10:51Z</dcterms:created>
  <dcterms:modified xsi:type="dcterms:W3CDTF">2025-12-22T10:43:45Z</dcterms:modified>
</cp:coreProperties>
</file>