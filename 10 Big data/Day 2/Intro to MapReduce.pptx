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4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9144000" cy="5143500" type="screen16x9"/>
  <p:notesSz cx="6858000" cy="9144000"/>
  <p:embeddedFontLst>
    <p:embeddedFont>
      <p:font typeface="Roboto Slab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964E8A-2459-4BF1-85C1-6AE8B5B7E416}">
  <a:tblStyle styleId="{DA964E8A-2459-4BF1-85C1-6AE8B5B7E4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94" y="2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 Raman Bhattathirippad" userId="3124107035e67ed5" providerId="LiveId" clId="{7AF173A8-80A2-4637-92A8-1AC0E4C2650A}"/>
    <pc:docChg chg="modSld">
      <pc:chgData name="Raghu Raman Bhattathirippad" userId="3124107035e67ed5" providerId="LiveId" clId="{7AF173A8-80A2-4637-92A8-1AC0E4C2650A}" dt="2022-01-22T12:52:04.915" v="23" actId="20577"/>
      <pc:docMkLst>
        <pc:docMk/>
      </pc:docMkLst>
      <pc:sldChg chg="modSp mod">
        <pc:chgData name="Raghu Raman Bhattathirippad" userId="3124107035e67ed5" providerId="LiveId" clId="{7AF173A8-80A2-4637-92A8-1AC0E4C2650A}" dt="2022-01-22T12:51:03.536" v="22" actId="20577"/>
        <pc:sldMkLst>
          <pc:docMk/>
          <pc:sldMk cId="0" sldId="275"/>
        </pc:sldMkLst>
        <pc:spChg chg="mod">
          <ac:chgData name="Raghu Raman Bhattathirippad" userId="3124107035e67ed5" providerId="LiveId" clId="{7AF173A8-80A2-4637-92A8-1AC0E4C2650A}" dt="2022-01-22T12:51:03.536" v="22" actId="20577"/>
          <ac:spMkLst>
            <pc:docMk/>
            <pc:sldMk cId="0" sldId="275"/>
            <ac:spMk id="520" creationId="{00000000-0000-0000-0000-000000000000}"/>
          </ac:spMkLst>
        </pc:spChg>
      </pc:sldChg>
      <pc:sldChg chg="modSp mod">
        <pc:chgData name="Raghu Raman Bhattathirippad" userId="3124107035e67ed5" providerId="LiveId" clId="{7AF173A8-80A2-4637-92A8-1AC0E4C2650A}" dt="2022-01-22T12:52:04.915" v="23" actId="20577"/>
        <pc:sldMkLst>
          <pc:docMk/>
          <pc:sldMk cId="0" sldId="276"/>
        </pc:sldMkLst>
        <pc:spChg chg="mod">
          <ac:chgData name="Raghu Raman Bhattathirippad" userId="3124107035e67ed5" providerId="LiveId" clId="{7AF173A8-80A2-4637-92A8-1AC0E4C2650A}" dt="2022-01-22T12:52:04.915" v="23" actId="20577"/>
          <ac:spMkLst>
            <pc:docMk/>
            <pc:sldMk cId="0" sldId="276"/>
            <ac:spMk id="5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e9806f8c13_0_12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ge9806f8c13_0_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e9806f8c13_0_15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e9806f8c13_0_1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e9806f8c13_0_1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e9806f8c13_0_1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e9806f8c13_0_1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e9806f8c13_0_1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9806f8c13_0_1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e9806f8c13_0_1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9806f8c13_0_1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9806f8c13_0_1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9806f8c13_0_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9806f8c13_0_1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e9806f8c13_0_16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e9806f8c13_0_1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9806f8c13_0_1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e9806f8c13_0_1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e9806f8c13_0_1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e9806f8c13_0_1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e9806f8c13_0_1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e9806f8c13_0_1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e9806f8c13_0_1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e9806f8c13_0_1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9806f8c13_0_1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9806f8c13_0_1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e9806f8c13_0_18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6" name="Google Shape;356;ge9806f8c13_0_1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9806f8c13_0_1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9806f8c13_0_1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e9806f8c13_0_1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e9806f8c13_0_1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e9806f8c13_0_1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e9806f8c13_0_1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e9806f8c13_0_19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e9806f8c13_0_19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e9806f8c13_0_1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e9806f8c13_0_1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e9806f8c13_0_19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e9806f8c13_0_19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e9806f8c13_0_1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e9806f8c13_0_1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e9806f8c13_0_2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e9806f8c13_0_20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e9806f8c13_0_2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e9806f8c13_0_2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e9806f8c13_0_2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e9806f8c13_0_2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e9806f8c13_0_2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e9806f8c13_0_2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e9806f8c13_0_20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e9806f8c13_0_20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e9806f8c1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e9806f8c1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e9806f8c13_0_20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e9806f8c13_0_20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e9806f8c13_0_2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e9806f8c13_0_2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e9806f8c13_0_20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e9806f8c13_0_20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e9806f8c13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e9806f8c13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e9806f8c13_0_2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e9806f8c13_0_2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e9806f8c13_0_2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e9806f8c13_0_2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e9806f8c13_0_2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e9806f8c13_0_2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e9806f8c13_0_2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e9806f8c13_0_2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e9806f8c13_0_2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e9806f8c13_0_2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e9806f8c13_0_2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e9806f8c13_0_2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e9806f8c13_0_2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e9806f8c13_0_2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e9806f8c13_0_2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e9806f8c13_0_2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e9806f8c13_0_2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e9806f8c13_0_2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e9806f8c13_0_2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e9806f8c13_0_2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e9806f8c13_0_2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e9806f8c13_0_2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e9806f8c13_0_2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e9806f8c13_0_2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e9806f8c13_0_2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e9806f8c13_0_2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3"/>
          <p:cNvCxnSpPr/>
          <p:nvPr/>
        </p:nvCxnSpPr>
        <p:spPr>
          <a:xfrm>
            <a:off x="156424" y="735656"/>
            <a:ext cx="87663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2" name="Google Shape;52;p13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98754" y="44998"/>
            <a:ext cx="494650" cy="559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/>
          <p:nvPr/>
        </p:nvSpPr>
        <p:spPr>
          <a:xfrm rot="-2700000" flipH="1">
            <a:off x="-281616" y="-190460"/>
            <a:ext cx="1369875" cy="1032099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02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7"/>
          <p:cNvSpPr/>
          <p:nvPr/>
        </p:nvSpPr>
        <p:spPr>
          <a:xfrm rot="-2700000" flipH="1">
            <a:off x="668701" y="316622"/>
            <a:ext cx="484085" cy="484085"/>
          </a:xfrm>
          <a:prstGeom prst="rect">
            <a:avLst/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7"/>
          <p:cNvSpPr/>
          <p:nvPr/>
        </p:nvSpPr>
        <p:spPr>
          <a:xfrm rot="-2700000" flipH="1">
            <a:off x="7532673" y="491329"/>
            <a:ext cx="515481" cy="515481"/>
          </a:xfrm>
          <a:prstGeom prst="rect">
            <a:avLst/>
          </a:prstGeom>
          <a:solidFill>
            <a:schemeClr val="accent4">
              <a:alpha val="2902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7"/>
          <p:cNvSpPr/>
          <p:nvPr/>
        </p:nvSpPr>
        <p:spPr>
          <a:xfrm rot="10800000" flipH="1">
            <a:off x="7017482" y="0"/>
            <a:ext cx="2126518" cy="1110628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02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/>
          <p:nvPr/>
        </p:nvSpPr>
        <p:spPr>
          <a:xfrm flipH="1">
            <a:off x="7277743" y="4586626"/>
            <a:ext cx="1120800" cy="556800"/>
          </a:xfrm>
          <a:prstGeom prst="triangle">
            <a:avLst>
              <a:gd name="adj" fmla="val 50000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7"/>
          <p:cNvSpPr/>
          <p:nvPr/>
        </p:nvSpPr>
        <p:spPr>
          <a:xfrm flipH="1">
            <a:off x="6998537" y="4839858"/>
            <a:ext cx="611100" cy="303900"/>
          </a:xfrm>
          <a:prstGeom prst="triangle">
            <a:avLst>
              <a:gd name="adj" fmla="val 50000"/>
            </a:avLst>
          </a:prstGeom>
          <a:solidFill>
            <a:schemeClr val="accent1">
              <a:alpha val="2902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7"/>
          <p:cNvSpPr txBox="1"/>
          <p:nvPr/>
        </p:nvSpPr>
        <p:spPr>
          <a:xfrm>
            <a:off x="1582950" y="988975"/>
            <a:ext cx="53316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000" b="1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Intro to </a:t>
            </a:r>
            <a:r>
              <a:rPr lang="en-GB" sz="3000" b="1" dirty="0">
                <a:solidFill>
                  <a:srgbClr val="4A86E8"/>
                </a:solidFill>
                <a:latin typeface="Roboto Slab"/>
                <a:ea typeface="Roboto Slab"/>
                <a:cs typeface="Roboto Slab"/>
                <a:sym typeface="Roboto Slab"/>
              </a:rPr>
              <a:t>MapReduce</a:t>
            </a:r>
            <a:endParaRPr sz="3000" b="1" dirty="0">
              <a:solidFill>
                <a:schemeClr val="accent6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14" name="Google Shape;114;p27"/>
          <p:cNvPicPr preferRelativeResize="0"/>
          <p:nvPr/>
        </p:nvPicPr>
        <p:blipFill rotWithShape="1">
          <a:blip r:embed="rId3">
            <a:alphaModFix/>
          </a:blip>
          <a:srcRect b="10071"/>
          <a:stretch/>
        </p:blipFill>
        <p:spPr>
          <a:xfrm>
            <a:off x="1527145" y="2097175"/>
            <a:ext cx="5698254" cy="300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2759" y="2658927"/>
            <a:ext cx="2751290" cy="16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002060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fld>
            <a:endParaRPr sz="1100" b="0" i="0" u="none" strike="noStrike" cap="none">
              <a:solidFill>
                <a:srgbClr val="00206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210350" y="76425"/>
            <a:ext cx="387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9" name="Google Shape;129;p29"/>
          <p:cNvSpPr txBox="1"/>
          <p:nvPr/>
        </p:nvSpPr>
        <p:spPr>
          <a:xfrm>
            <a:off x="1422200" y="382250"/>
            <a:ext cx="48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9"/>
          <p:cNvSpPr/>
          <p:nvPr/>
        </p:nvSpPr>
        <p:spPr>
          <a:xfrm>
            <a:off x="2089550" y="2451200"/>
            <a:ext cx="3676800" cy="12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" name="Google Shape;131;p29"/>
          <p:cNvCxnSpPr/>
          <p:nvPr/>
        </p:nvCxnSpPr>
        <p:spPr>
          <a:xfrm rot="10800000" flipH="1">
            <a:off x="332175" y="1542975"/>
            <a:ext cx="8454600" cy="10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29"/>
          <p:cNvCxnSpPr/>
          <p:nvPr/>
        </p:nvCxnSpPr>
        <p:spPr>
          <a:xfrm rot="10800000" flipH="1">
            <a:off x="375050" y="4039700"/>
            <a:ext cx="8368800" cy="10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p29"/>
          <p:cNvSpPr txBox="1"/>
          <p:nvPr/>
        </p:nvSpPr>
        <p:spPr>
          <a:xfrm>
            <a:off x="1135875" y="2313150"/>
            <a:ext cx="6633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4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 dirty="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9" name="Google Shape;139;p30"/>
          <p:cNvSpPr/>
          <p:nvPr/>
        </p:nvSpPr>
        <p:spPr>
          <a:xfrm>
            <a:off x="1143000" y="1786300"/>
            <a:ext cx="6858000" cy="17994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0"/>
          <p:cNvSpPr txBox="1"/>
          <p:nvPr/>
        </p:nvSpPr>
        <p:spPr>
          <a:xfrm>
            <a:off x="1918050" y="1978700"/>
            <a:ext cx="5668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Roboto Slab"/>
                <a:ea typeface="Roboto Slab"/>
                <a:cs typeface="Roboto Slab"/>
                <a:sym typeface="Roboto Slab"/>
              </a:rPr>
              <a:t>MapReduce is a computing paradigm for processing data that resides on many computers</a:t>
            </a:r>
            <a:endParaRPr sz="2400" dirty="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/>
        </p:nvSpPr>
        <p:spPr>
          <a:xfrm>
            <a:off x="439375" y="2019050"/>
            <a:ext cx="2475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Roboto Slab"/>
                <a:ea typeface="Roboto Slab"/>
                <a:cs typeface="Roboto Slab"/>
                <a:sym typeface="Roboto Slab"/>
              </a:rPr>
              <a:t>There are 2 stages in MapReduce</a:t>
            </a:r>
            <a:endParaRPr sz="21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6" name="Google Shape;146;p31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47" name="Google Shape;147;p31"/>
          <p:cNvCxnSpPr/>
          <p:nvPr/>
        </p:nvCxnSpPr>
        <p:spPr>
          <a:xfrm>
            <a:off x="3032525" y="76562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" name="Google Shape;148;p31"/>
          <p:cNvSpPr txBox="1"/>
          <p:nvPr/>
        </p:nvSpPr>
        <p:spPr>
          <a:xfrm>
            <a:off x="3741600" y="3525450"/>
            <a:ext cx="166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Stage 1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9" name="Google Shape;149;p31"/>
          <p:cNvSpPr txBox="1"/>
          <p:nvPr/>
        </p:nvSpPr>
        <p:spPr>
          <a:xfrm>
            <a:off x="6890150" y="3525450"/>
            <a:ext cx="166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Stage 2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3455800" y="1243025"/>
            <a:ext cx="2400300" cy="1971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Map</a:t>
            </a:r>
            <a:endParaRPr sz="30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6397225" y="1243025"/>
            <a:ext cx="2475300" cy="19716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Reduce</a:t>
            </a:r>
            <a:endParaRPr sz="24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/>
        </p:nvSpPr>
        <p:spPr>
          <a:xfrm>
            <a:off x="439375" y="2019050"/>
            <a:ext cx="2475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Roboto Slab"/>
                <a:ea typeface="Roboto Slab"/>
                <a:cs typeface="Roboto Slab"/>
                <a:sym typeface="Roboto Slab"/>
              </a:rPr>
              <a:t>There are 2 stages in MapReduce</a:t>
            </a:r>
            <a:endParaRPr sz="21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7" name="Google Shape;157;p32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58" name="Google Shape;158;p32"/>
          <p:cNvCxnSpPr/>
          <p:nvPr/>
        </p:nvCxnSpPr>
        <p:spPr>
          <a:xfrm>
            <a:off x="3032525" y="76562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" name="Google Shape;159;p32"/>
          <p:cNvSpPr txBox="1"/>
          <p:nvPr/>
        </p:nvSpPr>
        <p:spPr>
          <a:xfrm>
            <a:off x="3964775" y="2019050"/>
            <a:ext cx="4521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Both Map and Reduce only works on (</a:t>
            </a:r>
            <a:r>
              <a:rPr lang="en-GB" sz="24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Key, Value</a:t>
            </a: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) pair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65" name="Google Shape;165;p33"/>
          <p:cNvCxnSpPr/>
          <p:nvPr/>
        </p:nvCxnSpPr>
        <p:spPr>
          <a:xfrm>
            <a:off x="3032525" y="76562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33"/>
          <p:cNvSpPr txBox="1"/>
          <p:nvPr/>
        </p:nvSpPr>
        <p:spPr>
          <a:xfrm>
            <a:off x="557225" y="1918100"/>
            <a:ext cx="221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Roboto Slab"/>
                <a:ea typeface="Roboto Slab"/>
                <a:cs typeface="Roboto Slab"/>
                <a:sym typeface="Roboto Slab"/>
              </a:rPr>
              <a:t>What is (</a:t>
            </a:r>
            <a:r>
              <a:rPr lang="en-GB" sz="20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Key, Value</a:t>
            </a:r>
            <a:r>
              <a:rPr lang="en-GB" sz="2000">
                <a:latin typeface="Roboto Slab"/>
                <a:ea typeface="Roboto Slab"/>
                <a:cs typeface="Roboto Slab"/>
                <a:sym typeface="Roboto Slab"/>
              </a:rPr>
              <a:t>)?</a:t>
            </a:r>
            <a:endParaRPr sz="2000">
              <a:latin typeface="Roboto Slab"/>
              <a:ea typeface="Roboto Slab"/>
              <a:cs typeface="Roboto Slab"/>
              <a:sym typeface="Roboto Slab"/>
            </a:endParaRPr>
          </a:p>
        </p:txBody>
      </p:sp>
      <p:graphicFrame>
        <p:nvGraphicFramePr>
          <p:cNvPr id="167" name="Google Shape;167;p33"/>
          <p:cNvGraphicFramePr/>
          <p:nvPr/>
        </p:nvGraphicFramePr>
        <p:xfrm>
          <a:off x="3893950" y="1311450"/>
          <a:ext cx="4297550" cy="2921600"/>
        </p:xfrm>
        <a:graphic>
          <a:graphicData uri="http://schemas.openxmlformats.org/drawingml/2006/table">
            <a:tbl>
              <a:tblPr>
                <a:noFill/>
                <a:tableStyleId>{DA964E8A-2459-4BF1-85C1-6AE8B5B7E416}</a:tableStyleId>
              </a:tblPr>
              <a:tblGrid>
                <a:gridCol w="214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8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lt1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Key</a:t>
                      </a:r>
                      <a:endParaRPr sz="3000">
                        <a:solidFill>
                          <a:schemeClr val="lt1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lt1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Value</a:t>
                      </a:r>
                      <a:endParaRPr sz="3000">
                        <a:solidFill>
                          <a:schemeClr val="lt1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ID</a:t>
                      </a:r>
                      <a:endParaRPr sz="24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101</a:t>
                      </a:r>
                      <a:endParaRPr sz="24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Name</a:t>
                      </a:r>
                      <a:endParaRPr sz="24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Ram</a:t>
                      </a:r>
                      <a:endParaRPr sz="24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Designation</a:t>
                      </a:r>
                      <a:endParaRPr sz="24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Developer</a:t>
                      </a:r>
                      <a:endParaRPr sz="24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3" name="Google Shape;173;p34"/>
          <p:cNvSpPr txBox="1"/>
          <p:nvPr/>
        </p:nvSpPr>
        <p:spPr>
          <a:xfrm>
            <a:off x="1114425" y="1168000"/>
            <a:ext cx="7083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Both Map and reduce only works on 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24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Key, value</a:t>
            </a: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) pair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4" name="Google Shape;174;p34"/>
          <p:cNvSpPr txBox="1"/>
          <p:nvPr/>
        </p:nvSpPr>
        <p:spPr>
          <a:xfrm>
            <a:off x="423225" y="2912825"/>
            <a:ext cx="846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&lt;K, V&gt;</a:t>
            </a:r>
            <a:r>
              <a:rPr lang="en-GB" b="1"/>
              <a:t>                                                          </a:t>
            </a:r>
            <a:r>
              <a:rPr lang="en-GB" sz="1800" b="1"/>
              <a:t>&lt;K, V&gt;</a:t>
            </a:r>
            <a:r>
              <a:rPr lang="en-GB" b="1"/>
              <a:t>                                                      </a:t>
            </a:r>
            <a:r>
              <a:rPr lang="en-GB" sz="1800" b="1"/>
              <a:t>&lt;K, V&gt;</a:t>
            </a:r>
            <a:endParaRPr sz="1800" b="1"/>
          </a:p>
        </p:txBody>
      </p:sp>
      <p:cxnSp>
        <p:nvCxnSpPr>
          <p:cNvPr id="175" name="Google Shape;175;p34"/>
          <p:cNvCxnSpPr/>
          <p:nvPr/>
        </p:nvCxnSpPr>
        <p:spPr>
          <a:xfrm>
            <a:off x="1296600" y="3107525"/>
            <a:ext cx="4716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Google Shape;176;p34"/>
          <p:cNvSpPr/>
          <p:nvPr/>
        </p:nvSpPr>
        <p:spPr>
          <a:xfrm>
            <a:off x="2025250" y="2805125"/>
            <a:ext cx="1017900" cy="615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30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77" name="Google Shape;177;p34"/>
          <p:cNvCxnSpPr/>
          <p:nvPr/>
        </p:nvCxnSpPr>
        <p:spPr>
          <a:xfrm>
            <a:off x="3388525" y="3107525"/>
            <a:ext cx="4716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34"/>
          <p:cNvCxnSpPr/>
          <p:nvPr/>
        </p:nvCxnSpPr>
        <p:spPr>
          <a:xfrm>
            <a:off x="4933950" y="3107525"/>
            <a:ext cx="4716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9" name="Google Shape;179;p34"/>
          <p:cNvSpPr/>
          <p:nvPr/>
        </p:nvSpPr>
        <p:spPr>
          <a:xfrm>
            <a:off x="5641175" y="2805125"/>
            <a:ext cx="889200" cy="6156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R</a:t>
            </a:r>
            <a:endParaRPr sz="24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80" name="Google Shape;180;p34"/>
          <p:cNvCxnSpPr/>
          <p:nvPr/>
        </p:nvCxnSpPr>
        <p:spPr>
          <a:xfrm>
            <a:off x="6796100" y="3107525"/>
            <a:ext cx="4716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" name="Google Shape;181;p34"/>
          <p:cNvSpPr txBox="1"/>
          <p:nvPr/>
        </p:nvSpPr>
        <p:spPr>
          <a:xfrm>
            <a:off x="2057400" y="3493300"/>
            <a:ext cx="88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Map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2" name="Google Shape;182;p34"/>
          <p:cNvSpPr txBox="1"/>
          <p:nvPr/>
        </p:nvSpPr>
        <p:spPr>
          <a:xfrm>
            <a:off x="5700725" y="3536150"/>
            <a:ext cx="82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Reduce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002060"/>
                </a:solidFill>
                <a:latin typeface="Roboto Slab"/>
                <a:ea typeface="Roboto Slab"/>
                <a:cs typeface="Roboto Slab"/>
                <a:sym typeface="Roboto Slab"/>
              </a:rPr>
              <a:t>8</a:t>
            </a:fld>
            <a:endParaRPr sz="1100" b="0" i="0" u="none" strike="noStrike" cap="none">
              <a:solidFill>
                <a:srgbClr val="00206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8" name="Google Shape;188;p35"/>
          <p:cNvSpPr txBox="1"/>
          <p:nvPr/>
        </p:nvSpPr>
        <p:spPr>
          <a:xfrm>
            <a:off x="210350" y="76425"/>
            <a:ext cx="387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9" name="Google Shape;189;p35"/>
          <p:cNvSpPr txBox="1"/>
          <p:nvPr/>
        </p:nvSpPr>
        <p:spPr>
          <a:xfrm>
            <a:off x="1422200" y="382250"/>
            <a:ext cx="48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5"/>
          <p:cNvSpPr/>
          <p:nvPr/>
        </p:nvSpPr>
        <p:spPr>
          <a:xfrm>
            <a:off x="2089550" y="2451200"/>
            <a:ext cx="3676800" cy="12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1" name="Google Shape;191;p35"/>
          <p:cNvCxnSpPr/>
          <p:nvPr/>
        </p:nvCxnSpPr>
        <p:spPr>
          <a:xfrm rot="10800000" flipH="1">
            <a:off x="332175" y="1542975"/>
            <a:ext cx="8454600" cy="10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35"/>
          <p:cNvCxnSpPr/>
          <p:nvPr/>
        </p:nvCxnSpPr>
        <p:spPr>
          <a:xfrm rot="10800000" flipH="1">
            <a:off x="375050" y="4039700"/>
            <a:ext cx="8368800" cy="10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p35"/>
          <p:cNvSpPr txBox="1"/>
          <p:nvPr/>
        </p:nvSpPr>
        <p:spPr>
          <a:xfrm>
            <a:off x="1135875" y="2313150"/>
            <a:ext cx="6633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latin typeface="Roboto Slab"/>
                <a:ea typeface="Roboto Slab"/>
                <a:cs typeface="Roboto Slab"/>
                <a:sym typeface="Roboto Slab"/>
              </a:rPr>
              <a:t>What is a MAP?</a:t>
            </a:r>
            <a:endParaRPr sz="4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9" name="Google Shape;199;p36"/>
          <p:cNvSpPr txBox="1"/>
          <p:nvPr/>
        </p:nvSpPr>
        <p:spPr>
          <a:xfrm>
            <a:off x="582188" y="4537525"/>
            <a:ext cx="126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0" name="Google Shape;200;p36"/>
          <p:cNvSpPr txBox="1"/>
          <p:nvPr/>
        </p:nvSpPr>
        <p:spPr>
          <a:xfrm>
            <a:off x="2775350" y="4537525"/>
            <a:ext cx="157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1" name="Google Shape;201;p36"/>
          <p:cNvSpPr txBox="1"/>
          <p:nvPr/>
        </p:nvSpPr>
        <p:spPr>
          <a:xfrm>
            <a:off x="5014925" y="4537500"/>
            <a:ext cx="16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2" name="Google Shape;202;p36"/>
          <p:cNvSpPr txBox="1"/>
          <p:nvPr/>
        </p:nvSpPr>
        <p:spPr>
          <a:xfrm>
            <a:off x="7144950" y="4537525"/>
            <a:ext cx="171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3" name="Google Shape;203;p36"/>
          <p:cNvSpPr/>
          <p:nvPr/>
        </p:nvSpPr>
        <p:spPr>
          <a:xfrm>
            <a:off x="321475" y="915700"/>
            <a:ext cx="1950300" cy="3434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6"/>
          <p:cNvSpPr/>
          <p:nvPr/>
        </p:nvSpPr>
        <p:spPr>
          <a:xfrm>
            <a:off x="525075" y="3321850"/>
            <a:ext cx="1639500" cy="73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24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5" name="Google Shape;205;p36"/>
          <p:cNvSpPr/>
          <p:nvPr/>
        </p:nvSpPr>
        <p:spPr>
          <a:xfrm>
            <a:off x="2520575" y="934225"/>
            <a:ext cx="1950300" cy="3434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6"/>
          <p:cNvSpPr/>
          <p:nvPr/>
        </p:nvSpPr>
        <p:spPr>
          <a:xfrm>
            <a:off x="4719675" y="934213"/>
            <a:ext cx="1950300" cy="3434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6"/>
          <p:cNvSpPr/>
          <p:nvPr/>
        </p:nvSpPr>
        <p:spPr>
          <a:xfrm>
            <a:off x="6918775" y="934225"/>
            <a:ext cx="1950300" cy="3434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6"/>
          <p:cNvSpPr/>
          <p:nvPr/>
        </p:nvSpPr>
        <p:spPr>
          <a:xfrm>
            <a:off x="2675975" y="3369475"/>
            <a:ext cx="1639500" cy="73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24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9" name="Google Shape;209;p36"/>
          <p:cNvSpPr/>
          <p:nvPr/>
        </p:nvSpPr>
        <p:spPr>
          <a:xfrm>
            <a:off x="4826875" y="3369475"/>
            <a:ext cx="1639500" cy="73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24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0" name="Google Shape;210;p36"/>
          <p:cNvSpPr/>
          <p:nvPr/>
        </p:nvSpPr>
        <p:spPr>
          <a:xfrm>
            <a:off x="7074175" y="3321850"/>
            <a:ext cx="1639500" cy="73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2400" b="1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16" name="Google Shape;2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643" y="867975"/>
            <a:ext cx="935756" cy="8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 txBox="1"/>
          <p:nvPr/>
        </p:nvSpPr>
        <p:spPr>
          <a:xfrm>
            <a:off x="2090713" y="4681788"/>
            <a:ext cx="94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8" name="Google Shape;218;p37"/>
          <p:cNvSpPr/>
          <p:nvPr/>
        </p:nvSpPr>
        <p:spPr>
          <a:xfrm>
            <a:off x="1896675" y="21543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7"/>
          <p:cNvSpPr/>
          <p:nvPr/>
        </p:nvSpPr>
        <p:spPr>
          <a:xfrm>
            <a:off x="2048206" y="3769607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0" name="Google Shape;220;p37"/>
          <p:cNvSpPr/>
          <p:nvPr/>
        </p:nvSpPr>
        <p:spPr>
          <a:xfrm>
            <a:off x="3533375" y="21682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7"/>
          <p:cNvSpPr/>
          <p:nvPr/>
        </p:nvSpPr>
        <p:spPr>
          <a:xfrm>
            <a:off x="5170075" y="21753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7"/>
          <p:cNvSpPr/>
          <p:nvPr/>
        </p:nvSpPr>
        <p:spPr>
          <a:xfrm>
            <a:off x="3649032" y="3805342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3" name="Google Shape;223;p37"/>
          <p:cNvSpPr/>
          <p:nvPr/>
        </p:nvSpPr>
        <p:spPr>
          <a:xfrm>
            <a:off x="5249858" y="3805342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4" name="Google Shape;224;p37"/>
          <p:cNvSpPr/>
          <p:nvPr/>
        </p:nvSpPr>
        <p:spPr>
          <a:xfrm>
            <a:off x="6806775" y="21682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7"/>
          <p:cNvSpPr/>
          <p:nvPr/>
        </p:nvSpPr>
        <p:spPr>
          <a:xfrm>
            <a:off x="6922430" y="3769607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6" name="Google Shape;226;p37"/>
          <p:cNvSpPr txBox="1"/>
          <p:nvPr/>
        </p:nvSpPr>
        <p:spPr>
          <a:xfrm>
            <a:off x="3722993" y="4681788"/>
            <a:ext cx="11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7" name="Google Shape;227;p37"/>
          <p:cNvSpPr txBox="1"/>
          <p:nvPr/>
        </p:nvSpPr>
        <p:spPr>
          <a:xfrm>
            <a:off x="5389816" y="4681770"/>
            <a:ext cx="12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8" name="Google Shape;228;p37"/>
          <p:cNvSpPr txBox="1"/>
          <p:nvPr/>
        </p:nvSpPr>
        <p:spPr>
          <a:xfrm>
            <a:off x="6975105" y="4681788"/>
            <a:ext cx="127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9" name="Google Shape;229;p37"/>
          <p:cNvSpPr txBox="1"/>
          <p:nvPr/>
        </p:nvSpPr>
        <p:spPr>
          <a:xfrm>
            <a:off x="1275150" y="1082275"/>
            <a:ext cx="1172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Program</a:t>
            </a:r>
            <a:endParaRPr sz="1700"/>
          </a:p>
        </p:txBody>
      </p:sp>
      <p:sp>
        <p:nvSpPr>
          <p:cNvPr id="230" name="Google Shape;230;p37"/>
          <p:cNvSpPr txBox="1"/>
          <p:nvPr/>
        </p:nvSpPr>
        <p:spPr>
          <a:xfrm>
            <a:off x="20597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1" name="Google Shape;231;p37"/>
          <p:cNvSpPr txBox="1"/>
          <p:nvPr/>
        </p:nvSpPr>
        <p:spPr>
          <a:xfrm>
            <a:off x="3696413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2" name="Google Shape;232;p37"/>
          <p:cNvSpPr txBox="1"/>
          <p:nvPr/>
        </p:nvSpPr>
        <p:spPr>
          <a:xfrm>
            <a:off x="53331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3" name="Google Shape;233;p37"/>
          <p:cNvSpPr txBox="1"/>
          <p:nvPr/>
        </p:nvSpPr>
        <p:spPr>
          <a:xfrm>
            <a:off x="69698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4" name="Google Shape;234;p37"/>
          <p:cNvSpPr/>
          <p:nvPr/>
        </p:nvSpPr>
        <p:spPr>
          <a:xfrm>
            <a:off x="2447550" y="1168000"/>
            <a:ext cx="263700" cy="2250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5" name="Google Shape;235;p37"/>
          <p:cNvCxnSpPr/>
          <p:nvPr/>
        </p:nvCxnSpPr>
        <p:spPr>
          <a:xfrm>
            <a:off x="2389575" y="1746650"/>
            <a:ext cx="5218800" cy="108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37"/>
          <p:cNvCxnSpPr/>
          <p:nvPr/>
        </p:nvCxnSpPr>
        <p:spPr>
          <a:xfrm>
            <a:off x="2400300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7"/>
          <p:cNvCxnSpPr/>
          <p:nvPr/>
        </p:nvCxnSpPr>
        <p:spPr>
          <a:xfrm>
            <a:off x="4165638" y="1746650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38" name="Google Shape;238;p37"/>
          <p:cNvCxnSpPr/>
          <p:nvPr/>
        </p:nvCxnSpPr>
        <p:spPr>
          <a:xfrm>
            <a:off x="5890375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39" name="Google Shape;239;p37"/>
          <p:cNvCxnSpPr/>
          <p:nvPr/>
        </p:nvCxnSpPr>
        <p:spPr>
          <a:xfrm>
            <a:off x="7607650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40" name="Google Shape;240;p37"/>
          <p:cNvCxnSpPr>
            <a:stCxn id="234" idx="4"/>
          </p:cNvCxnSpPr>
          <p:nvPr/>
        </p:nvCxnSpPr>
        <p:spPr>
          <a:xfrm>
            <a:off x="2579400" y="1393000"/>
            <a:ext cx="13800" cy="353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643" y="867975"/>
            <a:ext cx="935756" cy="8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8"/>
          <p:cNvSpPr txBox="1"/>
          <p:nvPr/>
        </p:nvSpPr>
        <p:spPr>
          <a:xfrm>
            <a:off x="2090713" y="4681788"/>
            <a:ext cx="94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1896675" y="21543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8"/>
          <p:cNvSpPr/>
          <p:nvPr/>
        </p:nvSpPr>
        <p:spPr>
          <a:xfrm>
            <a:off x="2048206" y="3769607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0" name="Google Shape;250;p38"/>
          <p:cNvSpPr/>
          <p:nvPr/>
        </p:nvSpPr>
        <p:spPr>
          <a:xfrm>
            <a:off x="3533375" y="21682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8"/>
          <p:cNvSpPr/>
          <p:nvPr/>
        </p:nvSpPr>
        <p:spPr>
          <a:xfrm>
            <a:off x="5170075" y="21753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8"/>
          <p:cNvSpPr/>
          <p:nvPr/>
        </p:nvSpPr>
        <p:spPr>
          <a:xfrm>
            <a:off x="3649032" y="3805342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5249858" y="3805342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4" name="Google Shape;254;p38"/>
          <p:cNvSpPr/>
          <p:nvPr/>
        </p:nvSpPr>
        <p:spPr>
          <a:xfrm>
            <a:off x="6806775" y="21682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8"/>
          <p:cNvSpPr/>
          <p:nvPr/>
        </p:nvSpPr>
        <p:spPr>
          <a:xfrm>
            <a:off x="6922430" y="3769607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6" name="Google Shape;256;p38"/>
          <p:cNvSpPr txBox="1"/>
          <p:nvPr/>
        </p:nvSpPr>
        <p:spPr>
          <a:xfrm>
            <a:off x="3722993" y="4681788"/>
            <a:ext cx="11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7" name="Google Shape;257;p38"/>
          <p:cNvSpPr txBox="1"/>
          <p:nvPr/>
        </p:nvSpPr>
        <p:spPr>
          <a:xfrm>
            <a:off x="5389816" y="4681770"/>
            <a:ext cx="12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8" name="Google Shape;258;p38"/>
          <p:cNvSpPr txBox="1"/>
          <p:nvPr/>
        </p:nvSpPr>
        <p:spPr>
          <a:xfrm>
            <a:off x="6975105" y="4681788"/>
            <a:ext cx="127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1275150" y="1082275"/>
            <a:ext cx="1172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Program</a:t>
            </a:r>
            <a:endParaRPr sz="1700"/>
          </a:p>
        </p:txBody>
      </p:sp>
      <p:sp>
        <p:nvSpPr>
          <p:cNvPr id="260" name="Google Shape;260;p38"/>
          <p:cNvSpPr txBox="1"/>
          <p:nvPr/>
        </p:nvSpPr>
        <p:spPr>
          <a:xfrm>
            <a:off x="20597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3696413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53331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69698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64" name="Google Shape;264;p38"/>
          <p:cNvSpPr/>
          <p:nvPr/>
        </p:nvSpPr>
        <p:spPr>
          <a:xfrm>
            <a:off x="2447550" y="1168000"/>
            <a:ext cx="263700" cy="2250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5" name="Google Shape;265;p38"/>
          <p:cNvCxnSpPr/>
          <p:nvPr/>
        </p:nvCxnSpPr>
        <p:spPr>
          <a:xfrm>
            <a:off x="2389575" y="1746650"/>
            <a:ext cx="5218800" cy="108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38"/>
          <p:cNvCxnSpPr/>
          <p:nvPr/>
        </p:nvCxnSpPr>
        <p:spPr>
          <a:xfrm>
            <a:off x="2400300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67" name="Google Shape;267;p38"/>
          <p:cNvCxnSpPr/>
          <p:nvPr/>
        </p:nvCxnSpPr>
        <p:spPr>
          <a:xfrm>
            <a:off x="4165638" y="1746650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68" name="Google Shape;268;p38"/>
          <p:cNvCxnSpPr/>
          <p:nvPr/>
        </p:nvCxnSpPr>
        <p:spPr>
          <a:xfrm>
            <a:off x="5890375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69" name="Google Shape;269;p38"/>
          <p:cNvCxnSpPr/>
          <p:nvPr/>
        </p:nvCxnSpPr>
        <p:spPr>
          <a:xfrm>
            <a:off x="7607650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70" name="Google Shape;270;p38"/>
          <p:cNvCxnSpPr>
            <a:stCxn id="264" idx="4"/>
          </p:cNvCxnSpPr>
          <p:nvPr/>
        </p:nvCxnSpPr>
        <p:spPr>
          <a:xfrm>
            <a:off x="2579400" y="1393000"/>
            <a:ext cx="13800" cy="353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" name="Google Shape;271;p38"/>
          <p:cNvSpPr/>
          <p:nvPr/>
        </p:nvSpPr>
        <p:spPr>
          <a:xfrm>
            <a:off x="1778800" y="2078825"/>
            <a:ext cx="1639500" cy="2603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2" name="Google Shape;272;p38"/>
          <p:cNvCxnSpPr/>
          <p:nvPr/>
        </p:nvCxnSpPr>
        <p:spPr>
          <a:xfrm flipH="1">
            <a:off x="2593150" y="2950025"/>
            <a:ext cx="10800" cy="6645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3" name="Google Shape;273;p38"/>
          <p:cNvCxnSpPr/>
          <p:nvPr/>
        </p:nvCxnSpPr>
        <p:spPr>
          <a:xfrm flipH="1">
            <a:off x="1296825" y="3339200"/>
            <a:ext cx="366900" cy="174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38"/>
          <p:cNvSpPr txBox="1"/>
          <p:nvPr/>
        </p:nvSpPr>
        <p:spPr>
          <a:xfrm>
            <a:off x="107150" y="2850350"/>
            <a:ext cx="1220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process is running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80" name="Google Shape;2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643" y="867975"/>
            <a:ext cx="935756" cy="8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/>
        </p:nvSpPr>
        <p:spPr>
          <a:xfrm>
            <a:off x="2090713" y="4681788"/>
            <a:ext cx="94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1896675" y="21543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9"/>
          <p:cNvSpPr/>
          <p:nvPr/>
        </p:nvSpPr>
        <p:spPr>
          <a:xfrm>
            <a:off x="2048206" y="3769607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4" name="Google Shape;284;p39"/>
          <p:cNvSpPr/>
          <p:nvPr/>
        </p:nvSpPr>
        <p:spPr>
          <a:xfrm>
            <a:off x="3533375" y="21682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9"/>
          <p:cNvSpPr/>
          <p:nvPr/>
        </p:nvSpPr>
        <p:spPr>
          <a:xfrm>
            <a:off x="5170075" y="21753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9"/>
          <p:cNvSpPr/>
          <p:nvPr/>
        </p:nvSpPr>
        <p:spPr>
          <a:xfrm>
            <a:off x="3649032" y="3805342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7" name="Google Shape;287;p39"/>
          <p:cNvSpPr/>
          <p:nvPr/>
        </p:nvSpPr>
        <p:spPr>
          <a:xfrm>
            <a:off x="5249858" y="3805342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6806775" y="2168250"/>
            <a:ext cx="1451400" cy="23871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9"/>
          <p:cNvSpPr/>
          <p:nvPr/>
        </p:nvSpPr>
        <p:spPr>
          <a:xfrm>
            <a:off x="6922430" y="3769607"/>
            <a:ext cx="1220100" cy="55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0" name="Google Shape;290;p39"/>
          <p:cNvSpPr txBox="1"/>
          <p:nvPr/>
        </p:nvSpPr>
        <p:spPr>
          <a:xfrm>
            <a:off x="3722993" y="4681788"/>
            <a:ext cx="11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5389816" y="4681770"/>
            <a:ext cx="12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2" name="Google Shape;292;p39"/>
          <p:cNvSpPr txBox="1"/>
          <p:nvPr/>
        </p:nvSpPr>
        <p:spPr>
          <a:xfrm>
            <a:off x="6975105" y="4681788"/>
            <a:ext cx="127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1275150" y="1082275"/>
            <a:ext cx="1172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Program</a:t>
            </a:r>
            <a:endParaRPr sz="1700"/>
          </a:p>
        </p:txBody>
      </p:sp>
      <p:sp>
        <p:nvSpPr>
          <p:cNvPr id="294" name="Google Shape;294;p39"/>
          <p:cNvSpPr txBox="1"/>
          <p:nvPr/>
        </p:nvSpPr>
        <p:spPr>
          <a:xfrm>
            <a:off x="20597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3696413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53331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6969825" y="2348550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98" name="Google Shape;298;p39"/>
          <p:cNvSpPr/>
          <p:nvPr/>
        </p:nvSpPr>
        <p:spPr>
          <a:xfrm>
            <a:off x="2447550" y="1168000"/>
            <a:ext cx="263700" cy="2250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9" name="Google Shape;299;p39"/>
          <p:cNvCxnSpPr/>
          <p:nvPr/>
        </p:nvCxnSpPr>
        <p:spPr>
          <a:xfrm>
            <a:off x="2389575" y="1746650"/>
            <a:ext cx="5218800" cy="108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39"/>
          <p:cNvCxnSpPr/>
          <p:nvPr/>
        </p:nvCxnSpPr>
        <p:spPr>
          <a:xfrm>
            <a:off x="2400300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01" name="Google Shape;301;p39"/>
          <p:cNvCxnSpPr/>
          <p:nvPr/>
        </p:nvCxnSpPr>
        <p:spPr>
          <a:xfrm>
            <a:off x="4165638" y="1746650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02" name="Google Shape;302;p39"/>
          <p:cNvCxnSpPr/>
          <p:nvPr/>
        </p:nvCxnSpPr>
        <p:spPr>
          <a:xfrm>
            <a:off x="5890375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03" name="Google Shape;303;p39"/>
          <p:cNvCxnSpPr/>
          <p:nvPr/>
        </p:nvCxnSpPr>
        <p:spPr>
          <a:xfrm>
            <a:off x="7607650" y="1768075"/>
            <a:ext cx="10800" cy="428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04" name="Google Shape;304;p39"/>
          <p:cNvCxnSpPr>
            <a:stCxn id="298" idx="4"/>
          </p:cNvCxnSpPr>
          <p:nvPr/>
        </p:nvCxnSpPr>
        <p:spPr>
          <a:xfrm>
            <a:off x="2579400" y="1393000"/>
            <a:ext cx="13800" cy="3537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39"/>
          <p:cNvSpPr/>
          <p:nvPr/>
        </p:nvSpPr>
        <p:spPr>
          <a:xfrm>
            <a:off x="1778800" y="2078825"/>
            <a:ext cx="1639500" cy="2603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6" name="Google Shape;306;p39"/>
          <p:cNvCxnSpPr/>
          <p:nvPr/>
        </p:nvCxnSpPr>
        <p:spPr>
          <a:xfrm flipH="1">
            <a:off x="2593150" y="2950025"/>
            <a:ext cx="10800" cy="6645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" name="Google Shape;307;p39"/>
          <p:cNvCxnSpPr/>
          <p:nvPr/>
        </p:nvCxnSpPr>
        <p:spPr>
          <a:xfrm flipH="1">
            <a:off x="1296825" y="3339200"/>
            <a:ext cx="366900" cy="174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8" name="Google Shape;308;p39"/>
          <p:cNvSpPr txBox="1"/>
          <p:nvPr/>
        </p:nvSpPr>
        <p:spPr>
          <a:xfrm>
            <a:off x="127475" y="2021238"/>
            <a:ext cx="1220100" cy="615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process is running</a:t>
            </a:r>
            <a:endParaRPr/>
          </a:p>
        </p:txBody>
      </p:sp>
      <p:sp>
        <p:nvSpPr>
          <p:cNvPr id="309" name="Google Shape;309;p39"/>
          <p:cNvSpPr txBox="1"/>
          <p:nvPr/>
        </p:nvSpPr>
        <p:spPr>
          <a:xfrm>
            <a:off x="474525" y="3129425"/>
            <a:ext cx="822300" cy="461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MAP</a:t>
            </a:r>
            <a:endParaRPr sz="1800" b="1"/>
          </a:p>
        </p:txBody>
      </p:sp>
      <p:cxnSp>
        <p:nvCxnSpPr>
          <p:cNvPr id="310" name="Google Shape;310;p39"/>
          <p:cNvCxnSpPr/>
          <p:nvPr/>
        </p:nvCxnSpPr>
        <p:spPr>
          <a:xfrm>
            <a:off x="824400" y="2696163"/>
            <a:ext cx="1500" cy="424800"/>
          </a:xfrm>
          <a:prstGeom prst="straightConnector1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/>
        </p:nvSpPr>
        <p:spPr>
          <a:xfrm>
            <a:off x="1885950" y="4597000"/>
            <a:ext cx="527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  <a:latin typeface="Roboto Slab"/>
                <a:ea typeface="Roboto Slab"/>
                <a:cs typeface="Roboto Slab"/>
                <a:sym typeface="Roboto Slab"/>
              </a:rPr>
              <a:t>4 Mappers Running Parallely</a:t>
            </a:r>
            <a:endParaRPr sz="1800">
              <a:solidFill>
                <a:srgbClr val="0000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17" name="Google Shape;31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650" y="867975"/>
            <a:ext cx="935755" cy="75662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0"/>
          <p:cNvSpPr txBox="1"/>
          <p:nvPr/>
        </p:nvSpPr>
        <p:spPr>
          <a:xfrm>
            <a:off x="1371418" y="4297459"/>
            <a:ext cx="94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1177381" y="2067728"/>
            <a:ext cx="1451400" cy="21060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40"/>
          <p:cNvSpPr/>
          <p:nvPr/>
        </p:nvSpPr>
        <p:spPr>
          <a:xfrm>
            <a:off x="1328912" y="3492723"/>
            <a:ext cx="1220100" cy="48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1" name="Google Shape;321;p40"/>
          <p:cNvSpPr/>
          <p:nvPr/>
        </p:nvSpPr>
        <p:spPr>
          <a:xfrm>
            <a:off x="3107679" y="2098891"/>
            <a:ext cx="1451400" cy="21060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40"/>
          <p:cNvSpPr/>
          <p:nvPr/>
        </p:nvSpPr>
        <p:spPr>
          <a:xfrm>
            <a:off x="4986828" y="2086254"/>
            <a:ext cx="1451400" cy="21060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40"/>
          <p:cNvSpPr/>
          <p:nvPr/>
        </p:nvSpPr>
        <p:spPr>
          <a:xfrm>
            <a:off x="3223336" y="3543149"/>
            <a:ext cx="1220100" cy="48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5066611" y="3524249"/>
            <a:ext cx="1220100" cy="48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5" name="Google Shape;325;p40"/>
          <p:cNvSpPr/>
          <p:nvPr/>
        </p:nvSpPr>
        <p:spPr>
          <a:xfrm>
            <a:off x="6959176" y="2015091"/>
            <a:ext cx="1451400" cy="21060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40"/>
          <p:cNvSpPr/>
          <p:nvPr/>
        </p:nvSpPr>
        <p:spPr>
          <a:xfrm>
            <a:off x="7074831" y="3427823"/>
            <a:ext cx="1220100" cy="48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7" name="Google Shape;327;p40"/>
          <p:cNvSpPr txBox="1"/>
          <p:nvPr/>
        </p:nvSpPr>
        <p:spPr>
          <a:xfrm>
            <a:off x="3297297" y="4316359"/>
            <a:ext cx="11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8" name="Google Shape;328;p40"/>
          <p:cNvSpPr txBox="1"/>
          <p:nvPr/>
        </p:nvSpPr>
        <p:spPr>
          <a:xfrm>
            <a:off x="5206568" y="4297442"/>
            <a:ext cx="12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9" name="Google Shape;329;p40"/>
          <p:cNvSpPr txBox="1"/>
          <p:nvPr/>
        </p:nvSpPr>
        <p:spPr>
          <a:xfrm>
            <a:off x="6975106" y="4232559"/>
            <a:ext cx="127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0" name="Google Shape;330;p40"/>
          <p:cNvSpPr txBox="1"/>
          <p:nvPr/>
        </p:nvSpPr>
        <p:spPr>
          <a:xfrm>
            <a:off x="1275156" y="1057033"/>
            <a:ext cx="1172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Program</a:t>
            </a:r>
            <a:endParaRPr sz="1700"/>
          </a:p>
        </p:txBody>
      </p:sp>
      <p:sp>
        <p:nvSpPr>
          <p:cNvPr id="331" name="Google Shape;331;p40"/>
          <p:cNvSpPr txBox="1"/>
          <p:nvPr/>
        </p:nvSpPr>
        <p:spPr>
          <a:xfrm>
            <a:off x="1340431" y="2239053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3270717" y="2257953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5149878" y="2239053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7122226" y="2174153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5" name="Google Shape;335;p40"/>
          <p:cNvSpPr/>
          <p:nvPr/>
        </p:nvSpPr>
        <p:spPr>
          <a:xfrm>
            <a:off x="2447555" y="1132660"/>
            <a:ext cx="263700" cy="1986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6" name="Google Shape;336;p40"/>
          <p:cNvCxnSpPr/>
          <p:nvPr/>
        </p:nvCxnSpPr>
        <p:spPr>
          <a:xfrm>
            <a:off x="1671650" y="1650200"/>
            <a:ext cx="6062400" cy="171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40"/>
          <p:cNvCxnSpPr/>
          <p:nvPr/>
        </p:nvCxnSpPr>
        <p:spPr>
          <a:xfrm>
            <a:off x="1681005" y="1726952"/>
            <a:ext cx="10800" cy="3783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38" name="Google Shape;338;p40"/>
          <p:cNvCxnSpPr/>
          <p:nvPr/>
        </p:nvCxnSpPr>
        <p:spPr>
          <a:xfrm>
            <a:off x="3739941" y="1726951"/>
            <a:ext cx="10800" cy="3783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39" name="Google Shape;339;p40"/>
          <p:cNvCxnSpPr/>
          <p:nvPr/>
        </p:nvCxnSpPr>
        <p:spPr>
          <a:xfrm>
            <a:off x="5707127" y="1726952"/>
            <a:ext cx="10800" cy="3783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40" name="Google Shape;340;p40"/>
          <p:cNvCxnSpPr/>
          <p:nvPr/>
        </p:nvCxnSpPr>
        <p:spPr>
          <a:xfrm>
            <a:off x="7760051" y="1662052"/>
            <a:ext cx="10800" cy="3783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41" name="Google Shape;341;p40"/>
          <p:cNvCxnSpPr>
            <a:stCxn id="335" idx="4"/>
          </p:cNvCxnSpPr>
          <p:nvPr/>
        </p:nvCxnSpPr>
        <p:spPr>
          <a:xfrm>
            <a:off x="2579405" y="1331260"/>
            <a:ext cx="13800" cy="3120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2" name="Google Shape;342;p40"/>
          <p:cNvSpPr/>
          <p:nvPr/>
        </p:nvSpPr>
        <p:spPr>
          <a:xfrm>
            <a:off x="1092750" y="1973625"/>
            <a:ext cx="1639500" cy="2302500"/>
          </a:xfrm>
          <a:prstGeom prst="roundRect">
            <a:avLst>
              <a:gd name="adj" fmla="val 12489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0"/>
          <p:cNvSpPr/>
          <p:nvPr/>
        </p:nvSpPr>
        <p:spPr>
          <a:xfrm>
            <a:off x="3042624" y="1988375"/>
            <a:ext cx="1571700" cy="2302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0"/>
          <p:cNvSpPr/>
          <p:nvPr/>
        </p:nvSpPr>
        <p:spPr>
          <a:xfrm>
            <a:off x="4924700" y="1988000"/>
            <a:ext cx="1571700" cy="2302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0"/>
          <p:cNvSpPr/>
          <p:nvPr/>
        </p:nvSpPr>
        <p:spPr>
          <a:xfrm>
            <a:off x="6887425" y="1916850"/>
            <a:ext cx="1639500" cy="2302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6" name="Google Shape;346;p40"/>
          <p:cNvCxnSpPr/>
          <p:nvPr/>
        </p:nvCxnSpPr>
        <p:spPr>
          <a:xfrm flipH="1">
            <a:off x="1836575" y="2807375"/>
            <a:ext cx="10800" cy="6645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" name="Google Shape;347;p40"/>
          <p:cNvCxnSpPr/>
          <p:nvPr/>
        </p:nvCxnSpPr>
        <p:spPr>
          <a:xfrm flipH="1">
            <a:off x="3854138" y="2791500"/>
            <a:ext cx="10800" cy="6645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8" name="Google Shape;348;p40"/>
          <p:cNvCxnSpPr/>
          <p:nvPr/>
        </p:nvCxnSpPr>
        <p:spPr>
          <a:xfrm flipH="1">
            <a:off x="5705150" y="2772600"/>
            <a:ext cx="10800" cy="6645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p40"/>
          <p:cNvCxnSpPr/>
          <p:nvPr/>
        </p:nvCxnSpPr>
        <p:spPr>
          <a:xfrm flipH="1">
            <a:off x="7679475" y="2691938"/>
            <a:ext cx="10800" cy="6645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0" name="Google Shape;350;p40"/>
          <p:cNvSpPr txBox="1"/>
          <p:nvPr/>
        </p:nvSpPr>
        <p:spPr>
          <a:xfrm>
            <a:off x="612450" y="2939150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M1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351" name="Google Shape;351;p40"/>
          <p:cNvSpPr txBox="1"/>
          <p:nvPr/>
        </p:nvSpPr>
        <p:spPr>
          <a:xfrm>
            <a:off x="2666888" y="3027625"/>
            <a:ext cx="59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M2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352" name="Google Shape;352;p40"/>
          <p:cNvSpPr txBox="1"/>
          <p:nvPr/>
        </p:nvSpPr>
        <p:spPr>
          <a:xfrm>
            <a:off x="4573875" y="2995475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M3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353" name="Google Shape;353;p40"/>
          <p:cNvSpPr txBox="1"/>
          <p:nvPr/>
        </p:nvSpPr>
        <p:spPr>
          <a:xfrm>
            <a:off x="6514425" y="2995475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M4</a:t>
            </a:r>
            <a:endParaRPr b="1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002060"/>
                </a:solidFill>
                <a:latin typeface="Roboto Slab"/>
                <a:ea typeface="Roboto Slab"/>
                <a:cs typeface="Roboto Slab"/>
                <a:sym typeface="Roboto Slab"/>
              </a:rPr>
              <a:t>14</a:t>
            </a:fld>
            <a:endParaRPr sz="1100" b="0" i="0" u="none" strike="noStrike" cap="none">
              <a:solidFill>
                <a:srgbClr val="00206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9" name="Google Shape;359;p41"/>
          <p:cNvSpPr txBox="1"/>
          <p:nvPr/>
        </p:nvSpPr>
        <p:spPr>
          <a:xfrm>
            <a:off x="210350" y="76425"/>
            <a:ext cx="387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1422200" y="382250"/>
            <a:ext cx="48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41"/>
          <p:cNvSpPr/>
          <p:nvPr/>
        </p:nvSpPr>
        <p:spPr>
          <a:xfrm>
            <a:off x="2089550" y="2451200"/>
            <a:ext cx="3676800" cy="12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2" name="Google Shape;362;p41"/>
          <p:cNvCxnSpPr/>
          <p:nvPr/>
        </p:nvCxnSpPr>
        <p:spPr>
          <a:xfrm rot="10800000" flipH="1">
            <a:off x="332175" y="1542975"/>
            <a:ext cx="8454600" cy="10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41"/>
          <p:cNvCxnSpPr/>
          <p:nvPr/>
        </p:nvCxnSpPr>
        <p:spPr>
          <a:xfrm rot="10800000" flipH="1">
            <a:off x="375050" y="4039700"/>
            <a:ext cx="8368800" cy="10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41"/>
          <p:cNvSpPr txBox="1"/>
          <p:nvPr/>
        </p:nvSpPr>
        <p:spPr>
          <a:xfrm>
            <a:off x="1135875" y="2313150"/>
            <a:ext cx="6633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latin typeface="Roboto Slab"/>
                <a:ea typeface="Roboto Slab"/>
                <a:cs typeface="Roboto Slab"/>
                <a:sym typeface="Roboto Slab"/>
              </a:rPr>
              <a:t>What is a REDUCE?</a:t>
            </a:r>
            <a:endParaRPr sz="4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70" name="Google Shape;370;p42"/>
          <p:cNvSpPr txBox="1"/>
          <p:nvPr/>
        </p:nvSpPr>
        <p:spPr>
          <a:xfrm>
            <a:off x="1399993" y="2714154"/>
            <a:ext cx="94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71" name="Google Shape;371;p42"/>
          <p:cNvSpPr/>
          <p:nvPr/>
        </p:nvSpPr>
        <p:spPr>
          <a:xfrm>
            <a:off x="1205956" y="889119"/>
            <a:ext cx="1451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2"/>
          <p:cNvSpPr/>
          <p:nvPr/>
        </p:nvSpPr>
        <p:spPr>
          <a:xfrm>
            <a:off x="1357487" y="2055477"/>
            <a:ext cx="12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3136254" y="914625"/>
            <a:ext cx="1451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2"/>
          <p:cNvSpPr/>
          <p:nvPr/>
        </p:nvSpPr>
        <p:spPr>
          <a:xfrm>
            <a:off x="5015403" y="904282"/>
            <a:ext cx="1451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2"/>
          <p:cNvSpPr/>
          <p:nvPr/>
        </p:nvSpPr>
        <p:spPr>
          <a:xfrm>
            <a:off x="3251911" y="2096751"/>
            <a:ext cx="12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5095186" y="2081282"/>
            <a:ext cx="12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6835351" y="846035"/>
            <a:ext cx="1451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42"/>
          <p:cNvSpPr/>
          <p:nvPr/>
        </p:nvSpPr>
        <p:spPr>
          <a:xfrm>
            <a:off x="6951006" y="2002357"/>
            <a:ext cx="12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79" name="Google Shape;379;p42"/>
          <p:cNvSpPr txBox="1"/>
          <p:nvPr/>
        </p:nvSpPr>
        <p:spPr>
          <a:xfrm>
            <a:off x="3325872" y="2729623"/>
            <a:ext cx="11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0" name="Google Shape;380;p42"/>
          <p:cNvSpPr txBox="1"/>
          <p:nvPr/>
        </p:nvSpPr>
        <p:spPr>
          <a:xfrm>
            <a:off x="5235143" y="2714140"/>
            <a:ext cx="12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1" name="Google Shape;381;p42"/>
          <p:cNvSpPr txBox="1"/>
          <p:nvPr/>
        </p:nvSpPr>
        <p:spPr>
          <a:xfrm>
            <a:off x="7003681" y="2661033"/>
            <a:ext cx="127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2" name="Google Shape;382;p42"/>
          <p:cNvSpPr txBox="1"/>
          <p:nvPr/>
        </p:nvSpPr>
        <p:spPr>
          <a:xfrm>
            <a:off x="1369006" y="1029348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3" name="Google Shape;383;p42"/>
          <p:cNvSpPr txBox="1"/>
          <p:nvPr/>
        </p:nvSpPr>
        <p:spPr>
          <a:xfrm>
            <a:off x="3299292" y="1044818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4" name="Google Shape;384;p42"/>
          <p:cNvSpPr txBox="1"/>
          <p:nvPr/>
        </p:nvSpPr>
        <p:spPr>
          <a:xfrm>
            <a:off x="5178453" y="1029348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5" name="Google Shape;385;p42"/>
          <p:cNvSpPr txBox="1"/>
          <p:nvPr/>
        </p:nvSpPr>
        <p:spPr>
          <a:xfrm>
            <a:off x="6998401" y="976227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6" name="Google Shape;386;p42"/>
          <p:cNvSpPr/>
          <p:nvPr/>
        </p:nvSpPr>
        <p:spPr>
          <a:xfrm>
            <a:off x="1121325" y="812095"/>
            <a:ext cx="1639500" cy="1884600"/>
          </a:xfrm>
          <a:prstGeom prst="roundRect">
            <a:avLst>
              <a:gd name="adj" fmla="val 12489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42"/>
          <p:cNvSpPr/>
          <p:nvPr/>
        </p:nvSpPr>
        <p:spPr>
          <a:xfrm>
            <a:off x="3071199" y="824168"/>
            <a:ext cx="15717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2"/>
          <p:cNvSpPr/>
          <p:nvPr/>
        </p:nvSpPr>
        <p:spPr>
          <a:xfrm>
            <a:off x="4953275" y="823861"/>
            <a:ext cx="15717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2"/>
          <p:cNvSpPr/>
          <p:nvPr/>
        </p:nvSpPr>
        <p:spPr>
          <a:xfrm>
            <a:off x="6763600" y="765625"/>
            <a:ext cx="16395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0" name="Google Shape;390;p42"/>
          <p:cNvCxnSpPr/>
          <p:nvPr/>
        </p:nvCxnSpPr>
        <p:spPr>
          <a:xfrm flipH="1">
            <a:off x="1865150" y="1494520"/>
            <a:ext cx="108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3882713" y="1481526"/>
            <a:ext cx="108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2" name="Google Shape;392;p42"/>
          <p:cNvCxnSpPr/>
          <p:nvPr/>
        </p:nvCxnSpPr>
        <p:spPr>
          <a:xfrm flipH="1">
            <a:off x="5733725" y="1466057"/>
            <a:ext cx="108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3" name="Google Shape;393;p42"/>
          <p:cNvCxnSpPr/>
          <p:nvPr/>
        </p:nvCxnSpPr>
        <p:spPr>
          <a:xfrm flipH="1">
            <a:off x="7555650" y="1400034"/>
            <a:ext cx="108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4" name="Google Shape;394;p42"/>
          <p:cNvSpPr txBox="1"/>
          <p:nvPr/>
        </p:nvSpPr>
        <p:spPr>
          <a:xfrm>
            <a:off x="641025" y="1602378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M1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395" name="Google Shape;395;p42"/>
          <p:cNvSpPr txBox="1"/>
          <p:nvPr/>
        </p:nvSpPr>
        <p:spPr>
          <a:xfrm>
            <a:off x="2771663" y="1674795"/>
            <a:ext cx="59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M2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396" name="Google Shape;396;p42"/>
          <p:cNvSpPr txBox="1"/>
          <p:nvPr/>
        </p:nvSpPr>
        <p:spPr>
          <a:xfrm>
            <a:off x="4754850" y="1710850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M3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397" name="Google Shape;397;p42"/>
          <p:cNvSpPr txBox="1"/>
          <p:nvPr/>
        </p:nvSpPr>
        <p:spPr>
          <a:xfrm>
            <a:off x="6466800" y="1710850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M4</a:t>
            </a:r>
            <a:endParaRPr b="1">
              <a:solidFill>
                <a:srgbClr val="990000"/>
              </a:solidFill>
            </a:endParaRPr>
          </a:p>
        </p:txBody>
      </p:sp>
      <p:cxnSp>
        <p:nvCxnSpPr>
          <p:cNvPr id="398" name="Google Shape;398;p42"/>
          <p:cNvCxnSpPr/>
          <p:nvPr/>
        </p:nvCxnSpPr>
        <p:spPr>
          <a:xfrm>
            <a:off x="1757350" y="3282525"/>
            <a:ext cx="5968500" cy="321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42"/>
          <p:cNvCxnSpPr/>
          <p:nvPr/>
        </p:nvCxnSpPr>
        <p:spPr>
          <a:xfrm flipH="1">
            <a:off x="1757343" y="294501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" name="Google Shape;400;p42"/>
          <p:cNvCxnSpPr/>
          <p:nvPr/>
        </p:nvCxnSpPr>
        <p:spPr>
          <a:xfrm flipH="1">
            <a:off x="3853293" y="298286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1" name="Google Shape;401;p42"/>
          <p:cNvCxnSpPr/>
          <p:nvPr/>
        </p:nvCxnSpPr>
        <p:spPr>
          <a:xfrm flipH="1">
            <a:off x="5747218" y="294501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" name="Google Shape;402;p42"/>
          <p:cNvCxnSpPr/>
          <p:nvPr/>
        </p:nvCxnSpPr>
        <p:spPr>
          <a:xfrm flipH="1">
            <a:off x="7725843" y="298286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3" name="Google Shape;403;p42"/>
          <p:cNvCxnSpPr/>
          <p:nvPr/>
        </p:nvCxnSpPr>
        <p:spPr>
          <a:xfrm flipH="1">
            <a:off x="4568243" y="332036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4" name="Google Shape;404;p42"/>
          <p:cNvSpPr/>
          <p:nvPr/>
        </p:nvSpPr>
        <p:spPr>
          <a:xfrm>
            <a:off x="3954075" y="3621875"/>
            <a:ext cx="1510800" cy="1521600"/>
          </a:xfrm>
          <a:prstGeom prst="roundRect">
            <a:avLst>
              <a:gd name="adj" fmla="val 16667"/>
            </a:avLst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2"/>
          <p:cNvSpPr/>
          <p:nvPr/>
        </p:nvSpPr>
        <p:spPr>
          <a:xfrm>
            <a:off x="4093375" y="3718325"/>
            <a:ext cx="1220100" cy="78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M1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M2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M3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M4 output</a:t>
            </a:r>
            <a:endParaRPr sz="1200"/>
          </a:p>
        </p:txBody>
      </p:sp>
      <p:sp>
        <p:nvSpPr>
          <p:cNvPr id="406" name="Google Shape;406;p42"/>
          <p:cNvSpPr/>
          <p:nvPr/>
        </p:nvSpPr>
        <p:spPr>
          <a:xfrm>
            <a:off x="4179100" y="4800600"/>
            <a:ext cx="1056000" cy="235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00"/>
                </a:solidFill>
              </a:rPr>
              <a:t>Program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407" name="Google Shape;407;p42"/>
          <p:cNvSpPr txBox="1"/>
          <p:nvPr/>
        </p:nvSpPr>
        <p:spPr>
          <a:xfrm>
            <a:off x="5722150" y="4071950"/>
            <a:ext cx="112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Node 5</a:t>
            </a:r>
            <a:endParaRPr/>
          </a:p>
        </p:txBody>
      </p:sp>
      <p:sp>
        <p:nvSpPr>
          <p:cNvPr id="408" name="Google Shape;408;p42"/>
          <p:cNvSpPr txBox="1"/>
          <p:nvPr/>
        </p:nvSpPr>
        <p:spPr>
          <a:xfrm>
            <a:off x="1896675" y="3375425"/>
            <a:ext cx="157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Mapper outputs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14" name="Google Shape;414;p43"/>
          <p:cNvSpPr txBox="1"/>
          <p:nvPr/>
        </p:nvSpPr>
        <p:spPr>
          <a:xfrm>
            <a:off x="1399993" y="2714154"/>
            <a:ext cx="94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15" name="Google Shape;415;p43"/>
          <p:cNvSpPr/>
          <p:nvPr/>
        </p:nvSpPr>
        <p:spPr>
          <a:xfrm>
            <a:off x="1205956" y="889119"/>
            <a:ext cx="1451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3"/>
          <p:cNvSpPr/>
          <p:nvPr/>
        </p:nvSpPr>
        <p:spPr>
          <a:xfrm>
            <a:off x="1357487" y="2055477"/>
            <a:ext cx="12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17" name="Google Shape;417;p43"/>
          <p:cNvSpPr/>
          <p:nvPr/>
        </p:nvSpPr>
        <p:spPr>
          <a:xfrm>
            <a:off x="3136254" y="914625"/>
            <a:ext cx="1451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5015403" y="904282"/>
            <a:ext cx="1451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3251911" y="2096751"/>
            <a:ext cx="12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0" name="Google Shape;420;p43"/>
          <p:cNvSpPr/>
          <p:nvPr/>
        </p:nvSpPr>
        <p:spPr>
          <a:xfrm>
            <a:off x="5095186" y="2081282"/>
            <a:ext cx="12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1" name="Google Shape;421;p43"/>
          <p:cNvSpPr/>
          <p:nvPr/>
        </p:nvSpPr>
        <p:spPr>
          <a:xfrm>
            <a:off x="6835351" y="846035"/>
            <a:ext cx="1451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43"/>
          <p:cNvSpPr/>
          <p:nvPr/>
        </p:nvSpPr>
        <p:spPr>
          <a:xfrm>
            <a:off x="6951006" y="2002357"/>
            <a:ext cx="12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23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3" name="Google Shape;423;p43"/>
          <p:cNvSpPr txBox="1"/>
          <p:nvPr/>
        </p:nvSpPr>
        <p:spPr>
          <a:xfrm>
            <a:off x="3325872" y="2729623"/>
            <a:ext cx="11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4" name="Google Shape;424;p43"/>
          <p:cNvSpPr txBox="1"/>
          <p:nvPr/>
        </p:nvSpPr>
        <p:spPr>
          <a:xfrm>
            <a:off x="5235143" y="2714140"/>
            <a:ext cx="12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5" name="Google Shape;425;p43"/>
          <p:cNvSpPr txBox="1"/>
          <p:nvPr/>
        </p:nvSpPr>
        <p:spPr>
          <a:xfrm>
            <a:off x="7003681" y="2661033"/>
            <a:ext cx="127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6" name="Google Shape;426;p43"/>
          <p:cNvSpPr txBox="1"/>
          <p:nvPr/>
        </p:nvSpPr>
        <p:spPr>
          <a:xfrm>
            <a:off x="1369006" y="1029348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7" name="Google Shape;427;p43"/>
          <p:cNvSpPr txBox="1"/>
          <p:nvPr/>
        </p:nvSpPr>
        <p:spPr>
          <a:xfrm>
            <a:off x="3299292" y="1044818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8" name="Google Shape;428;p43"/>
          <p:cNvSpPr txBox="1"/>
          <p:nvPr/>
        </p:nvSpPr>
        <p:spPr>
          <a:xfrm>
            <a:off x="5178453" y="1029348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29" name="Google Shape;429;p43"/>
          <p:cNvSpPr txBox="1"/>
          <p:nvPr/>
        </p:nvSpPr>
        <p:spPr>
          <a:xfrm>
            <a:off x="6998401" y="976227"/>
            <a:ext cx="1125300" cy="44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7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30" name="Google Shape;430;p43"/>
          <p:cNvSpPr/>
          <p:nvPr/>
        </p:nvSpPr>
        <p:spPr>
          <a:xfrm>
            <a:off x="1121325" y="812095"/>
            <a:ext cx="1639500" cy="1884600"/>
          </a:xfrm>
          <a:prstGeom prst="roundRect">
            <a:avLst>
              <a:gd name="adj" fmla="val 12489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3"/>
          <p:cNvSpPr/>
          <p:nvPr/>
        </p:nvSpPr>
        <p:spPr>
          <a:xfrm>
            <a:off x="3071199" y="824168"/>
            <a:ext cx="15717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3"/>
          <p:cNvSpPr/>
          <p:nvPr/>
        </p:nvSpPr>
        <p:spPr>
          <a:xfrm>
            <a:off x="4953275" y="823861"/>
            <a:ext cx="15717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3"/>
          <p:cNvSpPr/>
          <p:nvPr/>
        </p:nvSpPr>
        <p:spPr>
          <a:xfrm>
            <a:off x="6763600" y="765625"/>
            <a:ext cx="16395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4" name="Google Shape;434;p43"/>
          <p:cNvCxnSpPr/>
          <p:nvPr/>
        </p:nvCxnSpPr>
        <p:spPr>
          <a:xfrm flipH="1">
            <a:off x="1865150" y="1494520"/>
            <a:ext cx="108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435;p43"/>
          <p:cNvCxnSpPr/>
          <p:nvPr/>
        </p:nvCxnSpPr>
        <p:spPr>
          <a:xfrm flipH="1">
            <a:off x="3882713" y="1481526"/>
            <a:ext cx="108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" name="Google Shape;436;p43"/>
          <p:cNvCxnSpPr/>
          <p:nvPr/>
        </p:nvCxnSpPr>
        <p:spPr>
          <a:xfrm flipH="1">
            <a:off x="5733725" y="1466057"/>
            <a:ext cx="108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7" name="Google Shape;437;p43"/>
          <p:cNvCxnSpPr/>
          <p:nvPr/>
        </p:nvCxnSpPr>
        <p:spPr>
          <a:xfrm flipH="1">
            <a:off x="7555650" y="1400034"/>
            <a:ext cx="108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8" name="Google Shape;438;p43"/>
          <p:cNvSpPr txBox="1"/>
          <p:nvPr/>
        </p:nvSpPr>
        <p:spPr>
          <a:xfrm>
            <a:off x="641025" y="1602378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M1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439" name="Google Shape;439;p43"/>
          <p:cNvSpPr txBox="1"/>
          <p:nvPr/>
        </p:nvSpPr>
        <p:spPr>
          <a:xfrm>
            <a:off x="2771663" y="1674795"/>
            <a:ext cx="59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M2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440" name="Google Shape;440;p43"/>
          <p:cNvSpPr txBox="1"/>
          <p:nvPr/>
        </p:nvSpPr>
        <p:spPr>
          <a:xfrm>
            <a:off x="4754850" y="1710850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M3</a:t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441" name="Google Shape;441;p43"/>
          <p:cNvSpPr txBox="1"/>
          <p:nvPr/>
        </p:nvSpPr>
        <p:spPr>
          <a:xfrm>
            <a:off x="6466800" y="1710850"/>
            <a:ext cx="4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M4</a:t>
            </a:r>
            <a:endParaRPr b="1">
              <a:solidFill>
                <a:srgbClr val="990000"/>
              </a:solidFill>
            </a:endParaRPr>
          </a:p>
        </p:txBody>
      </p:sp>
      <p:cxnSp>
        <p:nvCxnSpPr>
          <p:cNvPr id="442" name="Google Shape;442;p43"/>
          <p:cNvCxnSpPr/>
          <p:nvPr/>
        </p:nvCxnSpPr>
        <p:spPr>
          <a:xfrm>
            <a:off x="1757350" y="3282525"/>
            <a:ext cx="5968500" cy="321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43"/>
          <p:cNvCxnSpPr/>
          <p:nvPr/>
        </p:nvCxnSpPr>
        <p:spPr>
          <a:xfrm flipH="1">
            <a:off x="1757343" y="294501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4" name="Google Shape;444;p43"/>
          <p:cNvCxnSpPr/>
          <p:nvPr/>
        </p:nvCxnSpPr>
        <p:spPr>
          <a:xfrm flipH="1">
            <a:off x="3853293" y="298286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" name="Google Shape;445;p43"/>
          <p:cNvCxnSpPr/>
          <p:nvPr/>
        </p:nvCxnSpPr>
        <p:spPr>
          <a:xfrm flipH="1">
            <a:off x="5747218" y="294501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43"/>
          <p:cNvCxnSpPr/>
          <p:nvPr/>
        </p:nvCxnSpPr>
        <p:spPr>
          <a:xfrm flipH="1">
            <a:off x="7725843" y="298286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7" name="Google Shape;447;p43"/>
          <p:cNvCxnSpPr/>
          <p:nvPr/>
        </p:nvCxnSpPr>
        <p:spPr>
          <a:xfrm flipH="1">
            <a:off x="4568243" y="3320366"/>
            <a:ext cx="75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8" name="Google Shape;448;p43"/>
          <p:cNvSpPr/>
          <p:nvPr/>
        </p:nvSpPr>
        <p:spPr>
          <a:xfrm>
            <a:off x="3954075" y="3621875"/>
            <a:ext cx="1510800" cy="1521600"/>
          </a:xfrm>
          <a:prstGeom prst="roundRect">
            <a:avLst>
              <a:gd name="adj" fmla="val 16667"/>
            </a:avLst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3"/>
          <p:cNvSpPr/>
          <p:nvPr/>
        </p:nvSpPr>
        <p:spPr>
          <a:xfrm>
            <a:off x="4093375" y="3718325"/>
            <a:ext cx="1220100" cy="78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M1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M2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M3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M4 output</a:t>
            </a:r>
            <a:endParaRPr sz="1200"/>
          </a:p>
        </p:txBody>
      </p:sp>
      <p:sp>
        <p:nvSpPr>
          <p:cNvPr id="450" name="Google Shape;450;p43"/>
          <p:cNvSpPr/>
          <p:nvPr/>
        </p:nvSpPr>
        <p:spPr>
          <a:xfrm>
            <a:off x="4179100" y="4800600"/>
            <a:ext cx="1056000" cy="235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00"/>
                </a:solidFill>
              </a:rPr>
              <a:t>Program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451" name="Google Shape;451;p43"/>
          <p:cNvSpPr txBox="1"/>
          <p:nvPr/>
        </p:nvSpPr>
        <p:spPr>
          <a:xfrm>
            <a:off x="5722150" y="4071950"/>
            <a:ext cx="112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Node 5</a:t>
            </a:r>
            <a:endParaRPr/>
          </a:p>
        </p:txBody>
      </p:sp>
      <p:sp>
        <p:nvSpPr>
          <p:cNvPr id="452" name="Google Shape;452;p43"/>
          <p:cNvSpPr txBox="1"/>
          <p:nvPr/>
        </p:nvSpPr>
        <p:spPr>
          <a:xfrm>
            <a:off x="1896675" y="3375425"/>
            <a:ext cx="157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Mapper outputs</a:t>
            </a:r>
            <a:endParaRPr/>
          </a:p>
        </p:txBody>
      </p:sp>
      <p:sp>
        <p:nvSpPr>
          <p:cNvPr id="453" name="Google Shape;453;p43"/>
          <p:cNvSpPr txBox="1"/>
          <p:nvPr/>
        </p:nvSpPr>
        <p:spPr>
          <a:xfrm>
            <a:off x="2153850" y="3986225"/>
            <a:ext cx="1451400" cy="615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process is running</a:t>
            </a:r>
            <a:endParaRPr/>
          </a:p>
        </p:txBody>
      </p:sp>
      <p:cxnSp>
        <p:nvCxnSpPr>
          <p:cNvPr id="454" name="Google Shape;454;p43"/>
          <p:cNvCxnSpPr>
            <a:endCxn id="449" idx="2"/>
          </p:cNvCxnSpPr>
          <p:nvPr/>
        </p:nvCxnSpPr>
        <p:spPr>
          <a:xfrm rot="10800000">
            <a:off x="4703425" y="4500725"/>
            <a:ext cx="51300" cy="300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4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60" name="Google Shape;460;p44"/>
          <p:cNvSpPr txBox="1"/>
          <p:nvPr/>
        </p:nvSpPr>
        <p:spPr>
          <a:xfrm>
            <a:off x="3122604" y="2714154"/>
            <a:ext cx="709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61" name="Google Shape;461;p44"/>
          <p:cNvSpPr/>
          <p:nvPr/>
        </p:nvSpPr>
        <p:spPr>
          <a:xfrm>
            <a:off x="2976295" y="889119"/>
            <a:ext cx="1094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4"/>
          <p:cNvSpPr/>
          <p:nvPr/>
        </p:nvSpPr>
        <p:spPr>
          <a:xfrm>
            <a:off x="3090553" y="2055477"/>
            <a:ext cx="9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17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63" name="Google Shape;463;p44"/>
          <p:cNvSpPr/>
          <p:nvPr/>
        </p:nvSpPr>
        <p:spPr>
          <a:xfrm>
            <a:off x="4431783" y="914625"/>
            <a:ext cx="1094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4"/>
          <p:cNvSpPr/>
          <p:nvPr/>
        </p:nvSpPr>
        <p:spPr>
          <a:xfrm>
            <a:off x="5848702" y="904282"/>
            <a:ext cx="1094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4"/>
          <p:cNvSpPr/>
          <p:nvPr/>
        </p:nvSpPr>
        <p:spPr>
          <a:xfrm>
            <a:off x="4518991" y="2096751"/>
            <a:ext cx="9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16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5908860" y="2081282"/>
            <a:ext cx="9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16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67" name="Google Shape;467;p44"/>
          <p:cNvSpPr/>
          <p:nvPr/>
        </p:nvSpPr>
        <p:spPr>
          <a:xfrm>
            <a:off x="7220983" y="846035"/>
            <a:ext cx="1094400" cy="17238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4"/>
          <p:cNvSpPr/>
          <p:nvPr/>
        </p:nvSpPr>
        <p:spPr>
          <a:xfrm>
            <a:off x="7308190" y="2002357"/>
            <a:ext cx="920100" cy="40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16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69" name="Google Shape;469;p44"/>
          <p:cNvSpPr txBox="1"/>
          <p:nvPr/>
        </p:nvSpPr>
        <p:spPr>
          <a:xfrm>
            <a:off x="4574758" y="2729623"/>
            <a:ext cx="88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70" name="Google Shape;470;p44"/>
          <p:cNvSpPr txBox="1"/>
          <p:nvPr/>
        </p:nvSpPr>
        <p:spPr>
          <a:xfrm>
            <a:off x="6014391" y="2714140"/>
            <a:ext cx="920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7347758" y="2650396"/>
            <a:ext cx="96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72" name="Google Shape;472;p44"/>
          <p:cNvSpPr txBox="1"/>
          <p:nvPr/>
        </p:nvSpPr>
        <p:spPr>
          <a:xfrm>
            <a:off x="3099238" y="1029348"/>
            <a:ext cx="848400" cy="36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2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73" name="Google Shape;473;p44"/>
          <p:cNvSpPr txBox="1"/>
          <p:nvPr/>
        </p:nvSpPr>
        <p:spPr>
          <a:xfrm>
            <a:off x="4554716" y="1044818"/>
            <a:ext cx="848400" cy="36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2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74" name="Google Shape;474;p44"/>
          <p:cNvSpPr txBox="1"/>
          <p:nvPr/>
        </p:nvSpPr>
        <p:spPr>
          <a:xfrm>
            <a:off x="5971645" y="1029348"/>
            <a:ext cx="848400" cy="36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2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75" name="Google Shape;475;p44"/>
          <p:cNvSpPr txBox="1"/>
          <p:nvPr/>
        </p:nvSpPr>
        <p:spPr>
          <a:xfrm>
            <a:off x="7343926" y="976227"/>
            <a:ext cx="848400" cy="36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C0000"/>
                </a:solidFill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200">
              <a:solidFill>
                <a:srgbClr val="CC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76" name="Google Shape;476;p44"/>
          <p:cNvSpPr/>
          <p:nvPr/>
        </p:nvSpPr>
        <p:spPr>
          <a:xfrm>
            <a:off x="2916507" y="834233"/>
            <a:ext cx="1236300" cy="1884600"/>
          </a:xfrm>
          <a:prstGeom prst="roundRect">
            <a:avLst>
              <a:gd name="adj" fmla="val 12489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4"/>
          <p:cNvSpPr/>
          <p:nvPr/>
        </p:nvSpPr>
        <p:spPr>
          <a:xfrm>
            <a:off x="5763512" y="834225"/>
            <a:ext cx="12363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4"/>
          <p:cNvSpPr/>
          <p:nvPr/>
        </p:nvSpPr>
        <p:spPr>
          <a:xfrm>
            <a:off x="4300250" y="834225"/>
            <a:ext cx="12930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4"/>
          <p:cNvSpPr/>
          <p:nvPr/>
        </p:nvSpPr>
        <p:spPr>
          <a:xfrm>
            <a:off x="7144556" y="808725"/>
            <a:ext cx="1236300" cy="1884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0" name="Google Shape;480;p44"/>
          <p:cNvCxnSpPr/>
          <p:nvPr/>
        </p:nvCxnSpPr>
        <p:spPr>
          <a:xfrm flipH="1">
            <a:off x="3473386" y="1494520"/>
            <a:ext cx="81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1" name="Google Shape;481;p44"/>
          <p:cNvCxnSpPr/>
          <p:nvPr/>
        </p:nvCxnSpPr>
        <p:spPr>
          <a:xfrm flipH="1">
            <a:off x="4994672" y="1481526"/>
            <a:ext cx="81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2" name="Google Shape;482;p44"/>
          <p:cNvCxnSpPr/>
          <p:nvPr/>
        </p:nvCxnSpPr>
        <p:spPr>
          <a:xfrm flipH="1">
            <a:off x="6390376" y="1466057"/>
            <a:ext cx="81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3" name="Google Shape;483;p44"/>
          <p:cNvCxnSpPr/>
          <p:nvPr/>
        </p:nvCxnSpPr>
        <p:spPr>
          <a:xfrm flipH="1">
            <a:off x="7764148" y="1400034"/>
            <a:ext cx="8100" cy="543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4" name="Google Shape;484;p44"/>
          <p:cNvSpPr txBox="1"/>
          <p:nvPr/>
        </p:nvSpPr>
        <p:spPr>
          <a:xfrm>
            <a:off x="2550325" y="1602378"/>
            <a:ext cx="36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990000"/>
                </a:solidFill>
              </a:rPr>
              <a:t>M1</a:t>
            </a:r>
            <a:endParaRPr sz="1000" b="1">
              <a:solidFill>
                <a:srgbClr val="990000"/>
              </a:solidFill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4156872" y="1674795"/>
            <a:ext cx="44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990000"/>
                </a:solidFill>
              </a:rPr>
              <a:t>M2</a:t>
            </a:r>
            <a:endParaRPr sz="1000" b="1">
              <a:solidFill>
                <a:srgbClr val="990000"/>
              </a:solidFill>
            </a:endParaRPr>
          </a:p>
        </p:txBody>
      </p:sp>
      <p:sp>
        <p:nvSpPr>
          <p:cNvPr id="486" name="Google Shape;486;p44"/>
          <p:cNvSpPr txBox="1"/>
          <p:nvPr/>
        </p:nvSpPr>
        <p:spPr>
          <a:xfrm>
            <a:off x="5506337" y="1757725"/>
            <a:ext cx="36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990000"/>
                </a:solidFill>
              </a:rPr>
              <a:t>M3</a:t>
            </a:r>
            <a:endParaRPr sz="1000" b="1">
              <a:solidFill>
                <a:srgbClr val="990000"/>
              </a:solidFill>
            </a:endParaRPr>
          </a:p>
        </p:txBody>
      </p:sp>
      <p:sp>
        <p:nvSpPr>
          <p:cNvPr id="487" name="Google Shape;487;p44"/>
          <p:cNvSpPr txBox="1"/>
          <p:nvPr/>
        </p:nvSpPr>
        <p:spPr>
          <a:xfrm>
            <a:off x="6943087" y="1710850"/>
            <a:ext cx="36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990000"/>
                </a:solidFill>
              </a:rPr>
              <a:t>M4</a:t>
            </a:r>
            <a:endParaRPr sz="1000" b="1">
              <a:solidFill>
                <a:srgbClr val="990000"/>
              </a:solidFill>
            </a:endParaRPr>
          </a:p>
        </p:txBody>
      </p:sp>
      <p:cxnSp>
        <p:nvCxnSpPr>
          <p:cNvPr id="488" name="Google Shape;488;p44"/>
          <p:cNvCxnSpPr/>
          <p:nvPr/>
        </p:nvCxnSpPr>
        <p:spPr>
          <a:xfrm>
            <a:off x="3392059" y="3282525"/>
            <a:ext cx="4500300" cy="321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9" name="Google Shape;489;p44"/>
          <p:cNvCxnSpPr/>
          <p:nvPr/>
        </p:nvCxnSpPr>
        <p:spPr>
          <a:xfrm flipH="1">
            <a:off x="3392009" y="2945016"/>
            <a:ext cx="57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Google Shape;490;p44"/>
          <p:cNvCxnSpPr/>
          <p:nvPr/>
        </p:nvCxnSpPr>
        <p:spPr>
          <a:xfrm flipH="1">
            <a:off x="4972401" y="2982866"/>
            <a:ext cx="57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Google Shape;491;p44"/>
          <p:cNvCxnSpPr/>
          <p:nvPr/>
        </p:nvCxnSpPr>
        <p:spPr>
          <a:xfrm flipH="1">
            <a:off x="6400462" y="2945016"/>
            <a:ext cx="57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p44"/>
          <p:cNvCxnSpPr/>
          <p:nvPr/>
        </p:nvCxnSpPr>
        <p:spPr>
          <a:xfrm flipH="1">
            <a:off x="7892389" y="2982866"/>
            <a:ext cx="57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p44"/>
          <p:cNvCxnSpPr/>
          <p:nvPr/>
        </p:nvCxnSpPr>
        <p:spPr>
          <a:xfrm flipH="1">
            <a:off x="5511489" y="3320366"/>
            <a:ext cx="5700" cy="3375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4" name="Google Shape;494;p44"/>
          <p:cNvSpPr/>
          <p:nvPr/>
        </p:nvSpPr>
        <p:spPr>
          <a:xfrm>
            <a:off x="5048437" y="3621875"/>
            <a:ext cx="1139100" cy="1521600"/>
          </a:xfrm>
          <a:prstGeom prst="roundRect">
            <a:avLst>
              <a:gd name="adj" fmla="val 16667"/>
            </a:avLst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4"/>
          <p:cNvSpPr/>
          <p:nvPr/>
        </p:nvSpPr>
        <p:spPr>
          <a:xfrm>
            <a:off x="5153473" y="3718325"/>
            <a:ext cx="920100" cy="78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M1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M2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M3 output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M4 output</a:t>
            </a:r>
            <a:endParaRPr sz="1200"/>
          </a:p>
        </p:txBody>
      </p:sp>
      <p:sp>
        <p:nvSpPr>
          <p:cNvPr id="496" name="Google Shape;496;p44"/>
          <p:cNvSpPr/>
          <p:nvPr/>
        </p:nvSpPr>
        <p:spPr>
          <a:xfrm>
            <a:off x="5218111" y="4800600"/>
            <a:ext cx="796200" cy="235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00"/>
                </a:solidFill>
              </a:rPr>
              <a:t>Program</a:t>
            </a:r>
            <a:endParaRPr sz="1200">
              <a:solidFill>
                <a:srgbClr val="990000"/>
              </a:solidFill>
            </a:endParaRPr>
          </a:p>
        </p:txBody>
      </p:sp>
      <p:sp>
        <p:nvSpPr>
          <p:cNvPr id="497" name="Google Shape;497;p44"/>
          <p:cNvSpPr txBox="1"/>
          <p:nvPr/>
        </p:nvSpPr>
        <p:spPr>
          <a:xfrm>
            <a:off x="6495530" y="4622150"/>
            <a:ext cx="84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Node 5</a:t>
            </a:r>
            <a:endParaRPr/>
          </a:p>
        </p:txBody>
      </p:sp>
      <p:sp>
        <p:nvSpPr>
          <p:cNvPr id="498" name="Google Shape;498;p44"/>
          <p:cNvSpPr txBox="1"/>
          <p:nvPr/>
        </p:nvSpPr>
        <p:spPr>
          <a:xfrm>
            <a:off x="3397692" y="3356925"/>
            <a:ext cx="163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Mapper outputs</a:t>
            </a:r>
            <a:endParaRPr/>
          </a:p>
        </p:txBody>
      </p:sp>
      <p:cxnSp>
        <p:nvCxnSpPr>
          <p:cNvPr id="499" name="Google Shape;499;p44"/>
          <p:cNvCxnSpPr>
            <a:endCxn id="495" idx="2"/>
          </p:cNvCxnSpPr>
          <p:nvPr/>
        </p:nvCxnSpPr>
        <p:spPr>
          <a:xfrm rot="10800000">
            <a:off x="5613523" y="4500725"/>
            <a:ext cx="38700" cy="300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0" name="Google Shape;500;p44"/>
          <p:cNvSpPr txBox="1"/>
          <p:nvPr/>
        </p:nvSpPr>
        <p:spPr>
          <a:xfrm>
            <a:off x="439350" y="1424675"/>
            <a:ext cx="1293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Mappers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01" name="Google Shape;501;p44"/>
          <p:cNvCxnSpPr/>
          <p:nvPr/>
        </p:nvCxnSpPr>
        <p:spPr>
          <a:xfrm rot="10800000" flipH="1">
            <a:off x="1564475" y="1650125"/>
            <a:ext cx="814200" cy="1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2" name="Google Shape;502;p44"/>
          <p:cNvSpPr txBox="1"/>
          <p:nvPr/>
        </p:nvSpPr>
        <p:spPr>
          <a:xfrm>
            <a:off x="503650" y="4217825"/>
            <a:ext cx="175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Reducer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03" name="Google Shape;503;p44"/>
          <p:cNvCxnSpPr/>
          <p:nvPr/>
        </p:nvCxnSpPr>
        <p:spPr>
          <a:xfrm rot="10800000" flipH="1">
            <a:off x="1697350" y="4443275"/>
            <a:ext cx="814200" cy="1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4" name="Google Shape;504;p44"/>
          <p:cNvSpPr txBox="1"/>
          <p:nvPr/>
        </p:nvSpPr>
        <p:spPr>
          <a:xfrm>
            <a:off x="2528900" y="3825475"/>
            <a:ext cx="28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4"/>
          <p:cNvSpPr txBox="1"/>
          <p:nvPr/>
        </p:nvSpPr>
        <p:spPr>
          <a:xfrm>
            <a:off x="2843050" y="4140875"/>
            <a:ext cx="136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REDUCE Activity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06" name="Google Shape;506;p44"/>
          <p:cNvSpPr/>
          <p:nvPr/>
        </p:nvSpPr>
        <p:spPr>
          <a:xfrm>
            <a:off x="4972050" y="3611175"/>
            <a:ext cx="1293000" cy="152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4"/>
          <p:cNvSpPr txBox="1"/>
          <p:nvPr/>
        </p:nvSpPr>
        <p:spPr>
          <a:xfrm>
            <a:off x="4535350" y="4221950"/>
            <a:ext cx="447300" cy="400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00"/>
                </a:solidFill>
              </a:rPr>
              <a:t>R1</a:t>
            </a:r>
            <a:endParaRPr>
              <a:solidFill>
                <a:srgbClr val="990000"/>
              </a:solidFill>
            </a:endParaRPr>
          </a:p>
        </p:txBody>
      </p:sp>
      <p:cxnSp>
        <p:nvCxnSpPr>
          <p:cNvPr id="508" name="Google Shape;508;p44"/>
          <p:cNvCxnSpPr>
            <a:stCxn id="505" idx="3"/>
            <a:endCxn id="507" idx="1"/>
          </p:cNvCxnSpPr>
          <p:nvPr/>
        </p:nvCxnSpPr>
        <p:spPr>
          <a:xfrm rot="10800000" flipH="1">
            <a:off x="4203850" y="4421975"/>
            <a:ext cx="331500" cy="2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9" name="Google Shape;509;p44"/>
          <p:cNvCxnSpPr/>
          <p:nvPr/>
        </p:nvCxnSpPr>
        <p:spPr>
          <a:xfrm rot="10800000" flipH="1">
            <a:off x="6495536" y="4255020"/>
            <a:ext cx="422400" cy="42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0" name="Google Shape;510;p44"/>
          <p:cNvSpPr txBox="1"/>
          <p:nvPr/>
        </p:nvSpPr>
        <p:spPr>
          <a:xfrm>
            <a:off x="7148400" y="4057025"/>
            <a:ext cx="1185000" cy="40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Output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/>
        </p:nvSpPr>
        <p:spPr>
          <a:xfrm>
            <a:off x="717950" y="1318025"/>
            <a:ext cx="7683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latin typeface="Roboto Slab"/>
                <a:ea typeface="Roboto Slab"/>
                <a:cs typeface="Roboto Slab"/>
                <a:sym typeface="Roboto Slab"/>
              </a:rPr>
              <a:t>Example to Understand Map and Reduce</a:t>
            </a:r>
            <a:endParaRPr sz="4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 txBox="1"/>
          <p:nvPr/>
        </p:nvSpPr>
        <p:spPr>
          <a:xfrm>
            <a:off x="364325" y="1135850"/>
            <a:ext cx="22611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Roboto Slab"/>
                <a:ea typeface="Roboto Slab"/>
                <a:cs typeface="Roboto Slab"/>
                <a:sym typeface="Roboto Slab"/>
              </a:rPr>
              <a:t>Suppose we have a large file (file1.txt) with millions of records</a:t>
            </a:r>
            <a:endParaRPr sz="2400" dirty="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21" name="Google Shape;521;p46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22" name="Google Shape;522;p46"/>
          <p:cNvCxnSpPr>
            <a:stCxn id="521" idx="2"/>
          </p:cNvCxnSpPr>
          <p:nvPr/>
        </p:nvCxnSpPr>
        <p:spPr>
          <a:xfrm>
            <a:off x="2989625" y="765625"/>
            <a:ext cx="10800" cy="4431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46"/>
          <p:cNvSpPr/>
          <p:nvPr/>
        </p:nvSpPr>
        <p:spPr>
          <a:xfrm>
            <a:off x="3246825" y="846525"/>
            <a:ext cx="3954000" cy="41577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24" name="Google Shape;524;p46"/>
          <p:cNvSpPr txBox="1"/>
          <p:nvPr/>
        </p:nvSpPr>
        <p:spPr>
          <a:xfrm>
            <a:off x="7479500" y="2121700"/>
            <a:ext cx="123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file1.txt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(500mb)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7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30" name="Google Shape;530;p47"/>
          <p:cNvCxnSpPr/>
          <p:nvPr/>
        </p:nvCxnSpPr>
        <p:spPr>
          <a:xfrm>
            <a:off x="3257500" y="765625"/>
            <a:ext cx="10800" cy="4431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1" name="Google Shape;531;p47"/>
          <p:cNvSpPr txBox="1"/>
          <p:nvPr/>
        </p:nvSpPr>
        <p:spPr>
          <a:xfrm>
            <a:off x="4221950" y="1768075"/>
            <a:ext cx="3707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Roboto Slab"/>
                <a:ea typeface="Roboto Slab"/>
                <a:cs typeface="Roboto Slab"/>
                <a:sym typeface="Roboto Slab"/>
              </a:rPr>
              <a:t>We need to find out frequency of each word</a:t>
            </a:r>
            <a:endParaRPr sz="2200" dirty="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53550" y="814375"/>
            <a:ext cx="3129000" cy="39006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33" name="Google Shape;533;p47"/>
          <p:cNvSpPr txBox="1"/>
          <p:nvPr/>
        </p:nvSpPr>
        <p:spPr>
          <a:xfrm>
            <a:off x="675000" y="4714975"/>
            <a:ext cx="1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file1.txt (500mb)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8" name="Google Shape;538;p48"/>
          <p:cNvCxnSpPr/>
          <p:nvPr/>
        </p:nvCxnSpPr>
        <p:spPr>
          <a:xfrm>
            <a:off x="2989625" y="765625"/>
            <a:ext cx="10800" cy="4431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9" name="Google Shape;539;p48"/>
          <p:cNvSpPr txBox="1"/>
          <p:nvPr/>
        </p:nvSpPr>
        <p:spPr>
          <a:xfrm>
            <a:off x="4099750" y="4110500"/>
            <a:ext cx="47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Expected output from the given input file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40" name="Google Shape;540;p48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41" name="Google Shape;541;p48"/>
          <p:cNvSpPr/>
          <p:nvPr/>
        </p:nvSpPr>
        <p:spPr>
          <a:xfrm>
            <a:off x="53550" y="1414475"/>
            <a:ext cx="2861100" cy="33378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42" name="Google Shape;542;p48"/>
          <p:cNvSpPr txBox="1"/>
          <p:nvPr/>
        </p:nvSpPr>
        <p:spPr>
          <a:xfrm>
            <a:off x="675000" y="4752373"/>
            <a:ext cx="1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file1.txt (500mb)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43" name="Google Shape;543;p48"/>
          <p:cNvSpPr txBox="1"/>
          <p:nvPr/>
        </p:nvSpPr>
        <p:spPr>
          <a:xfrm>
            <a:off x="717950" y="696525"/>
            <a:ext cx="124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INPUT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44" name="Google Shape;544;p48"/>
          <p:cNvCxnSpPr/>
          <p:nvPr/>
        </p:nvCxnSpPr>
        <p:spPr>
          <a:xfrm>
            <a:off x="1334000" y="1050175"/>
            <a:ext cx="10800" cy="36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5" name="Google Shape;545;p48"/>
          <p:cNvSpPr/>
          <p:nvPr/>
        </p:nvSpPr>
        <p:spPr>
          <a:xfrm>
            <a:off x="6150775" y="1993100"/>
            <a:ext cx="2314500" cy="2068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28575" cap="flat" cmpd="sng">
            <a:solidFill>
              <a:srgbClr val="E0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Hello, 13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How, 10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Hi, 5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This, 20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World, 9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Are, 50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--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46" name="Google Shape;546;p48"/>
          <p:cNvSpPr txBox="1"/>
          <p:nvPr/>
        </p:nvSpPr>
        <p:spPr>
          <a:xfrm>
            <a:off x="6215075" y="857250"/>
            <a:ext cx="188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OUTPUT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47" name="Google Shape;547;p48"/>
          <p:cNvCxnSpPr/>
          <p:nvPr/>
        </p:nvCxnSpPr>
        <p:spPr>
          <a:xfrm>
            <a:off x="7101400" y="1234725"/>
            <a:ext cx="13800" cy="608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8" name="Google Shape;548;p48"/>
          <p:cNvSpPr/>
          <p:nvPr/>
        </p:nvSpPr>
        <p:spPr>
          <a:xfrm>
            <a:off x="3523200" y="2204350"/>
            <a:ext cx="1989300" cy="144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9"/>
          <p:cNvSpPr txBox="1"/>
          <p:nvPr/>
        </p:nvSpPr>
        <p:spPr>
          <a:xfrm>
            <a:off x="1495700" y="1097575"/>
            <a:ext cx="5972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latin typeface="Roboto Slab"/>
                <a:ea typeface="Roboto Slab"/>
                <a:cs typeface="Roboto Slab"/>
                <a:sym typeface="Roboto Slab"/>
              </a:rPr>
              <a:t>Now, how to solve this problem using </a:t>
            </a:r>
            <a:r>
              <a:rPr lang="en-GB" sz="4800">
                <a:solidFill>
                  <a:srgbClr val="FF9900"/>
                </a:solidFill>
                <a:latin typeface="Roboto Slab"/>
                <a:ea typeface="Roboto Slab"/>
                <a:cs typeface="Roboto Slab"/>
                <a:sym typeface="Roboto Slab"/>
              </a:rPr>
              <a:t>Map </a:t>
            </a:r>
            <a:r>
              <a:rPr lang="en-GB" sz="4800">
                <a:latin typeface="Roboto Slab"/>
                <a:ea typeface="Roboto Slab"/>
                <a:cs typeface="Roboto Slab"/>
                <a:sym typeface="Roboto Slab"/>
              </a:rPr>
              <a:t>&amp; </a:t>
            </a:r>
            <a:r>
              <a:rPr lang="en-GB" sz="4800">
                <a:solidFill>
                  <a:srgbClr val="FF9900"/>
                </a:solidFill>
                <a:latin typeface="Roboto Slab"/>
                <a:ea typeface="Roboto Slab"/>
                <a:cs typeface="Roboto Slab"/>
                <a:sym typeface="Roboto Slab"/>
              </a:rPr>
              <a:t>Reduce</a:t>
            </a:r>
            <a:endParaRPr sz="4800">
              <a:solidFill>
                <a:srgbClr val="FF99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Google Shape;558;p50"/>
          <p:cNvCxnSpPr/>
          <p:nvPr/>
        </p:nvCxnSpPr>
        <p:spPr>
          <a:xfrm>
            <a:off x="3377000" y="711900"/>
            <a:ext cx="10800" cy="4431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50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0" name="Google Shape;560;p50"/>
          <p:cNvSpPr txBox="1"/>
          <p:nvPr/>
        </p:nvSpPr>
        <p:spPr>
          <a:xfrm>
            <a:off x="3852250" y="1280500"/>
            <a:ext cx="4820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In Hadoop default block size is 128 mb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So this file will be divided into 4 Blocks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1" name="Google Shape;561;p50"/>
          <p:cNvSpPr/>
          <p:nvPr/>
        </p:nvSpPr>
        <p:spPr>
          <a:xfrm>
            <a:off x="53550" y="814375"/>
            <a:ext cx="3129000" cy="39006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6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2" name="Google Shape;562;p50"/>
          <p:cNvSpPr txBox="1"/>
          <p:nvPr/>
        </p:nvSpPr>
        <p:spPr>
          <a:xfrm>
            <a:off x="675000" y="4714975"/>
            <a:ext cx="1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file1.txt (500mb)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1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8" name="Google Shape;568;p51"/>
          <p:cNvSpPr txBox="1"/>
          <p:nvPr/>
        </p:nvSpPr>
        <p:spPr>
          <a:xfrm>
            <a:off x="2453375" y="4379500"/>
            <a:ext cx="496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File1.txt divided into 4 blocks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9" name="Google Shape;569;p51"/>
          <p:cNvSpPr/>
          <p:nvPr/>
        </p:nvSpPr>
        <p:spPr>
          <a:xfrm>
            <a:off x="53550" y="765625"/>
            <a:ext cx="1886100" cy="25242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0" name="Google Shape;570;p51"/>
          <p:cNvSpPr txBox="1"/>
          <p:nvPr/>
        </p:nvSpPr>
        <p:spPr>
          <a:xfrm>
            <a:off x="219750" y="3289825"/>
            <a:ext cx="155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file1.txt (</a:t>
            </a:r>
            <a:r>
              <a:rPr lang="en-GB">
                <a:solidFill>
                  <a:srgbClr val="990000"/>
                </a:solidFill>
                <a:latin typeface="Roboto Slab"/>
                <a:ea typeface="Roboto Slab"/>
                <a:cs typeface="Roboto Slab"/>
                <a:sym typeface="Roboto Slab"/>
              </a:rPr>
              <a:t>500mb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1" name="Google Shape;571;p51"/>
          <p:cNvSpPr txBox="1"/>
          <p:nvPr/>
        </p:nvSpPr>
        <p:spPr>
          <a:xfrm>
            <a:off x="2878226" y="4095779"/>
            <a:ext cx="10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2" name="Google Shape;572;p51"/>
          <p:cNvSpPr txBox="1"/>
          <p:nvPr/>
        </p:nvSpPr>
        <p:spPr>
          <a:xfrm>
            <a:off x="4302720" y="4095779"/>
            <a:ext cx="126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3" name="Google Shape;573;p51"/>
          <p:cNvSpPr txBox="1"/>
          <p:nvPr/>
        </p:nvSpPr>
        <p:spPr>
          <a:xfrm>
            <a:off x="5855144" y="4095787"/>
            <a:ext cx="131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4" name="Google Shape;574;p51"/>
          <p:cNvSpPr txBox="1"/>
          <p:nvPr/>
        </p:nvSpPr>
        <p:spPr>
          <a:xfrm>
            <a:off x="7265085" y="4095779"/>
            <a:ext cx="137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5" name="Google Shape;575;p51"/>
          <p:cNvSpPr/>
          <p:nvPr/>
        </p:nvSpPr>
        <p:spPr>
          <a:xfrm>
            <a:off x="2698700" y="1791550"/>
            <a:ext cx="1313400" cy="23685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51"/>
          <p:cNvSpPr/>
          <p:nvPr/>
        </p:nvSpPr>
        <p:spPr>
          <a:xfrm>
            <a:off x="4302725" y="1791550"/>
            <a:ext cx="1261800" cy="23685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51"/>
          <p:cNvSpPr/>
          <p:nvPr/>
        </p:nvSpPr>
        <p:spPr>
          <a:xfrm>
            <a:off x="5855150" y="1727275"/>
            <a:ext cx="1237500" cy="23685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51"/>
          <p:cNvSpPr/>
          <p:nvPr/>
        </p:nvSpPr>
        <p:spPr>
          <a:xfrm>
            <a:off x="7320875" y="1727275"/>
            <a:ext cx="1261800" cy="23685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51"/>
          <p:cNvSpPr/>
          <p:nvPr/>
        </p:nvSpPr>
        <p:spPr>
          <a:xfrm>
            <a:off x="2848850" y="3569875"/>
            <a:ext cx="1013100" cy="40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Block 1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80" name="Google Shape;580;p51"/>
          <p:cNvSpPr/>
          <p:nvPr/>
        </p:nvSpPr>
        <p:spPr>
          <a:xfrm>
            <a:off x="4426925" y="3508375"/>
            <a:ext cx="1013100" cy="46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Block 2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81" name="Google Shape;581;p51"/>
          <p:cNvSpPr/>
          <p:nvPr/>
        </p:nvSpPr>
        <p:spPr>
          <a:xfrm>
            <a:off x="5983400" y="3461150"/>
            <a:ext cx="1013100" cy="54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Block 3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82" name="Google Shape;582;p51"/>
          <p:cNvSpPr/>
          <p:nvPr/>
        </p:nvSpPr>
        <p:spPr>
          <a:xfrm>
            <a:off x="7468800" y="3508375"/>
            <a:ext cx="1013100" cy="46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Block 4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83" name="Google Shape;583;p51"/>
          <p:cNvCxnSpPr/>
          <p:nvPr/>
        </p:nvCxnSpPr>
        <p:spPr>
          <a:xfrm rot="10800000" flipH="1">
            <a:off x="1950250" y="975075"/>
            <a:ext cx="6000900" cy="42900"/>
          </a:xfrm>
          <a:prstGeom prst="straightConnector1">
            <a:avLst/>
          </a:prstGeom>
          <a:noFill/>
          <a:ln w="19050" cap="flat" cmpd="sng">
            <a:solidFill>
              <a:srgbClr val="66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51"/>
          <p:cNvCxnSpPr/>
          <p:nvPr/>
        </p:nvCxnSpPr>
        <p:spPr>
          <a:xfrm>
            <a:off x="7940275" y="985850"/>
            <a:ext cx="21300" cy="2293200"/>
          </a:xfrm>
          <a:prstGeom prst="straightConnector1">
            <a:avLst/>
          </a:prstGeom>
          <a:noFill/>
          <a:ln w="19050" cap="flat" cmpd="sng">
            <a:solidFill>
              <a:srgbClr val="66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85" name="Google Shape;585;p51"/>
          <p:cNvCxnSpPr/>
          <p:nvPr/>
        </p:nvCxnSpPr>
        <p:spPr>
          <a:xfrm rot="10800000" flipH="1">
            <a:off x="1890150" y="1154375"/>
            <a:ext cx="4410600" cy="11700"/>
          </a:xfrm>
          <a:prstGeom prst="straightConnector1">
            <a:avLst/>
          </a:prstGeom>
          <a:noFill/>
          <a:ln w="19050" cap="flat" cmpd="sng">
            <a:solidFill>
              <a:srgbClr val="66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51"/>
          <p:cNvCxnSpPr/>
          <p:nvPr/>
        </p:nvCxnSpPr>
        <p:spPr>
          <a:xfrm>
            <a:off x="6365075" y="1168000"/>
            <a:ext cx="32100" cy="2057400"/>
          </a:xfrm>
          <a:prstGeom prst="straightConnector1">
            <a:avLst/>
          </a:prstGeom>
          <a:noFill/>
          <a:ln w="19050" cap="flat" cmpd="sng">
            <a:solidFill>
              <a:srgbClr val="66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87" name="Google Shape;587;p51"/>
          <p:cNvCxnSpPr/>
          <p:nvPr/>
        </p:nvCxnSpPr>
        <p:spPr>
          <a:xfrm>
            <a:off x="1890150" y="1378475"/>
            <a:ext cx="2964000" cy="3900"/>
          </a:xfrm>
          <a:prstGeom prst="straightConnector1">
            <a:avLst/>
          </a:prstGeom>
          <a:noFill/>
          <a:ln w="19050" cap="flat" cmpd="sng">
            <a:solidFill>
              <a:srgbClr val="66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88" name="Google Shape;588;p51"/>
          <p:cNvCxnSpPr/>
          <p:nvPr/>
        </p:nvCxnSpPr>
        <p:spPr>
          <a:xfrm>
            <a:off x="4840813" y="1402000"/>
            <a:ext cx="24000" cy="1855500"/>
          </a:xfrm>
          <a:prstGeom prst="straightConnector1">
            <a:avLst/>
          </a:prstGeom>
          <a:noFill/>
          <a:ln w="19050" cap="flat" cmpd="sng">
            <a:solidFill>
              <a:srgbClr val="66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89" name="Google Shape;589;p51"/>
          <p:cNvCxnSpPr/>
          <p:nvPr/>
        </p:nvCxnSpPr>
        <p:spPr>
          <a:xfrm>
            <a:off x="3374188" y="1602225"/>
            <a:ext cx="33300" cy="1698300"/>
          </a:xfrm>
          <a:prstGeom prst="straightConnector1">
            <a:avLst/>
          </a:prstGeom>
          <a:noFill/>
          <a:ln w="19050" cap="flat" cmpd="sng">
            <a:solidFill>
              <a:srgbClr val="66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90" name="Google Shape;590;p51"/>
          <p:cNvCxnSpPr/>
          <p:nvPr/>
        </p:nvCxnSpPr>
        <p:spPr>
          <a:xfrm>
            <a:off x="1908250" y="1585013"/>
            <a:ext cx="1477800" cy="11700"/>
          </a:xfrm>
          <a:prstGeom prst="straightConnector1">
            <a:avLst/>
          </a:prstGeom>
          <a:noFill/>
          <a:ln w="19050" cap="flat" cmpd="sng">
            <a:solidFill>
              <a:srgbClr val="66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2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96" name="Google Shape;596;p52"/>
          <p:cNvSpPr txBox="1"/>
          <p:nvPr/>
        </p:nvSpPr>
        <p:spPr>
          <a:xfrm>
            <a:off x="439375" y="2019050"/>
            <a:ext cx="2475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Roboto Slab"/>
                <a:ea typeface="Roboto Slab"/>
                <a:cs typeface="Roboto Slab"/>
                <a:sym typeface="Roboto Slab"/>
              </a:rPr>
              <a:t>As we know that there are 2 stages in MapReduce</a:t>
            </a:r>
            <a:endParaRPr sz="21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97" name="Google Shape;597;p52"/>
          <p:cNvCxnSpPr/>
          <p:nvPr/>
        </p:nvCxnSpPr>
        <p:spPr>
          <a:xfrm>
            <a:off x="3032525" y="76562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52"/>
          <p:cNvSpPr txBox="1"/>
          <p:nvPr/>
        </p:nvSpPr>
        <p:spPr>
          <a:xfrm>
            <a:off x="3741600" y="3525450"/>
            <a:ext cx="166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Stage 1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99" name="Google Shape;599;p52"/>
          <p:cNvSpPr txBox="1"/>
          <p:nvPr/>
        </p:nvSpPr>
        <p:spPr>
          <a:xfrm>
            <a:off x="6890150" y="3525450"/>
            <a:ext cx="166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Stage 2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00" name="Google Shape;600;p52"/>
          <p:cNvSpPr/>
          <p:nvPr/>
        </p:nvSpPr>
        <p:spPr>
          <a:xfrm>
            <a:off x="3455800" y="1243025"/>
            <a:ext cx="2400300" cy="1971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Map</a:t>
            </a:r>
            <a:endParaRPr sz="30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01" name="Google Shape;601;p52"/>
          <p:cNvSpPr/>
          <p:nvPr/>
        </p:nvSpPr>
        <p:spPr>
          <a:xfrm>
            <a:off x="6397225" y="1243025"/>
            <a:ext cx="2475300" cy="19716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Reduce</a:t>
            </a:r>
            <a:endParaRPr sz="24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3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07" name="Google Shape;607;p53"/>
          <p:cNvCxnSpPr/>
          <p:nvPr/>
        </p:nvCxnSpPr>
        <p:spPr>
          <a:xfrm>
            <a:off x="3032525" y="76562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8" name="Google Shape;608;p53"/>
          <p:cNvSpPr txBox="1"/>
          <p:nvPr/>
        </p:nvSpPr>
        <p:spPr>
          <a:xfrm>
            <a:off x="365850" y="1366575"/>
            <a:ext cx="23565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We also know that both Map and Reduce only works on </a:t>
            </a:r>
            <a:r>
              <a:rPr lang="en-GB" sz="24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(key, Value)</a:t>
            </a: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 pair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09" name="Google Shape;609;p53"/>
          <p:cNvSpPr txBox="1"/>
          <p:nvPr/>
        </p:nvSpPr>
        <p:spPr>
          <a:xfrm>
            <a:off x="3214150" y="1530525"/>
            <a:ext cx="550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&lt;K, V&gt;</a:t>
            </a:r>
            <a:r>
              <a:rPr lang="en-GB" b="1"/>
              <a:t>                                   &lt;</a:t>
            </a:r>
            <a:r>
              <a:rPr lang="en-GB" sz="1800" b="1"/>
              <a:t>K, V&gt;</a:t>
            </a:r>
            <a:r>
              <a:rPr lang="en-GB" b="1"/>
              <a:t>                              </a:t>
            </a:r>
            <a:r>
              <a:rPr lang="en-GB" sz="1800" b="1"/>
              <a:t>&lt;K, V&gt;</a:t>
            </a:r>
            <a:endParaRPr sz="1800" b="1"/>
          </a:p>
        </p:txBody>
      </p:sp>
      <p:sp>
        <p:nvSpPr>
          <p:cNvPr id="610" name="Google Shape;610;p53"/>
          <p:cNvSpPr/>
          <p:nvPr/>
        </p:nvSpPr>
        <p:spPr>
          <a:xfrm>
            <a:off x="4571989" y="1453575"/>
            <a:ext cx="661800" cy="6156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30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11" name="Google Shape;611;p53"/>
          <p:cNvSpPr/>
          <p:nvPr/>
        </p:nvSpPr>
        <p:spPr>
          <a:xfrm>
            <a:off x="6882385" y="1453575"/>
            <a:ext cx="578100" cy="6156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R</a:t>
            </a:r>
            <a:endParaRPr sz="24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12" name="Google Shape;612;p53"/>
          <p:cNvSpPr txBox="1"/>
          <p:nvPr/>
        </p:nvSpPr>
        <p:spPr>
          <a:xfrm>
            <a:off x="4613838" y="2111000"/>
            <a:ext cx="57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Map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13" name="Google Shape;613;p53"/>
          <p:cNvSpPr txBox="1"/>
          <p:nvPr/>
        </p:nvSpPr>
        <p:spPr>
          <a:xfrm>
            <a:off x="6816300" y="2111000"/>
            <a:ext cx="92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Reduce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14" name="Google Shape;614;p53"/>
          <p:cNvCxnSpPr/>
          <p:nvPr/>
        </p:nvCxnSpPr>
        <p:spPr>
          <a:xfrm>
            <a:off x="4051875" y="1755975"/>
            <a:ext cx="4716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5" name="Google Shape;615;p53"/>
          <p:cNvCxnSpPr/>
          <p:nvPr/>
        </p:nvCxnSpPr>
        <p:spPr>
          <a:xfrm>
            <a:off x="5247450" y="1755975"/>
            <a:ext cx="4716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6" name="Google Shape;616;p53"/>
          <p:cNvCxnSpPr/>
          <p:nvPr/>
        </p:nvCxnSpPr>
        <p:spPr>
          <a:xfrm>
            <a:off x="6410775" y="1755975"/>
            <a:ext cx="4716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" name="Google Shape;617;p53"/>
          <p:cNvCxnSpPr/>
          <p:nvPr/>
        </p:nvCxnSpPr>
        <p:spPr>
          <a:xfrm>
            <a:off x="7460475" y="1755975"/>
            <a:ext cx="471600" cy="10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8" name="Google Shape;618;p53"/>
          <p:cNvSpPr/>
          <p:nvPr/>
        </p:nvSpPr>
        <p:spPr>
          <a:xfrm>
            <a:off x="3246825" y="835825"/>
            <a:ext cx="3164100" cy="2164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B539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53"/>
          <p:cNvSpPr/>
          <p:nvPr/>
        </p:nvSpPr>
        <p:spPr>
          <a:xfrm>
            <a:off x="5719050" y="825100"/>
            <a:ext cx="3282000" cy="2175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99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620" name="Google Shape;620;p53"/>
          <p:cNvSpPr txBox="1"/>
          <p:nvPr/>
        </p:nvSpPr>
        <p:spPr>
          <a:xfrm>
            <a:off x="3375425" y="1178725"/>
            <a:ext cx="77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INPUT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21" name="Google Shape;621;p53"/>
          <p:cNvSpPr txBox="1"/>
          <p:nvPr/>
        </p:nvSpPr>
        <p:spPr>
          <a:xfrm>
            <a:off x="5562900" y="122157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OUTPUT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22" name="Google Shape;622;p53"/>
          <p:cNvSpPr txBox="1"/>
          <p:nvPr/>
        </p:nvSpPr>
        <p:spPr>
          <a:xfrm>
            <a:off x="5690100" y="2306250"/>
            <a:ext cx="77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INPUT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23" name="Google Shape;623;p53"/>
          <p:cNvSpPr txBox="1"/>
          <p:nvPr/>
        </p:nvSpPr>
        <p:spPr>
          <a:xfrm>
            <a:off x="7889100" y="2306250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OUTPUT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4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29" name="Google Shape;629;p54"/>
          <p:cNvCxnSpPr/>
          <p:nvPr/>
        </p:nvCxnSpPr>
        <p:spPr>
          <a:xfrm>
            <a:off x="3032525" y="76562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0" name="Google Shape;630;p54"/>
          <p:cNvSpPr txBox="1"/>
          <p:nvPr/>
        </p:nvSpPr>
        <p:spPr>
          <a:xfrm>
            <a:off x="494975" y="1409625"/>
            <a:ext cx="2152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But, in our example We have input records which are like: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1" name="Google Shape;631;p54"/>
          <p:cNvSpPr txBox="1"/>
          <p:nvPr/>
        </p:nvSpPr>
        <p:spPr>
          <a:xfrm>
            <a:off x="3895275" y="1409625"/>
            <a:ext cx="42219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Slab"/>
                <a:ea typeface="Roboto Slab"/>
                <a:cs typeface="Roboto Slab"/>
                <a:sym typeface="Roboto Slab"/>
              </a:rPr>
              <a:t>Input Records </a:t>
            </a: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3000">
              <a:solidFill>
                <a:srgbClr val="FF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3000">
              <a:solidFill>
                <a:srgbClr val="FF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3000">
              <a:solidFill>
                <a:srgbClr val="FF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5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37" name="Google Shape;637;p55"/>
          <p:cNvCxnSpPr/>
          <p:nvPr/>
        </p:nvCxnSpPr>
        <p:spPr>
          <a:xfrm>
            <a:off x="4076275" y="83017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8" name="Google Shape;638;p55"/>
          <p:cNvSpPr txBox="1"/>
          <p:nvPr/>
        </p:nvSpPr>
        <p:spPr>
          <a:xfrm>
            <a:off x="290525" y="1355825"/>
            <a:ext cx="36585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Slab"/>
                <a:ea typeface="Roboto Slab"/>
                <a:cs typeface="Roboto Slab"/>
                <a:sym typeface="Roboto Slab"/>
              </a:rPr>
              <a:t>Input Records </a:t>
            </a: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9" name="Google Shape;639;p55"/>
          <p:cNvSpPr txBox="1"/>
          <p:nvPr/>
        </p:nvSpPr>
        <p:spPr>
          <a:xfrm>
            <a:off x="4368750" y="1441900"/>
            <a:ext cx="4401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Are these input records are (Key, Value) pairs 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6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45" name="Google Shape;645;p56"/>
          <p:cNvCxnSpPr/>
          <p:nvPr/>
        </p:nvCxnSpPr>
        <p:spPr>
          <a:xfrm>
            <a:off x="4076275" y="83017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56"/>
          <p:cNvSpPr txBox="1"/>
          <p:nvPr/>
        </p:nvSpPr>
        <p:spPr>
          <a:xfrm>
            <a:off x="290525" y="1355825"/>
            <a:ext cx="36585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Slab"/>
                <a:ea typeface="Roboto Slab"/>
                <a:cs typeface="Roboto Slab"/>
                <a:sym typeface="Roboto Slab"/>
              </a:rPr>
              <a:t>Input Records </a:t>
            </a: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47" name="Google Shape;647;p56"/>
          <p:cNvSpPr txBox="1"/>
          <p:nvPr/>
        </p:nvSpPr>
        <p:spPr>
          <a:xfrm>
            <a:off x="4336475" y="1054525"/>
            <a:ext cx="4401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Are these input records are (Key, Value) pairs 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48" name="Google Shape;648;p56"/>
          <p:cNvSpPr txBox="1"/>
          <p:nvPr/>
        </p:nvSpPr>
        <p:spPr>
          <a:xfrm>
            <a:off x="5460875" y="3276750"/>
            <a:ext cx="2152200" cy="16623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NO</a:t>
            </a:r>
            <a:endParaRPr sz="9600">
              <a:solidFill>
                <a:srgbClr val="FF0000"/>
              </a:solidFill>
              <a:highlight>
                <a:schemeClr val="lt1"/>
              </a:highlight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49" name="Google Shape;649;p56"/>
          <p:cNvCxnSpPr/>
          <p:nvPr/>
        </p:nvCxnSpPr>
        <p:spPr>
          <a:xfrm>
            <a:off x="6623238" y="2276225"/>
            <a:ext cx="20400" cy="938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7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55" name="Google Shape;655;p57"/>
          <p:cNvCxnSpPr/>
          <p:nvPr/>
        </p:nvCxnSpPr>
        <p:spPr>
          <a:xfrm>
            <a:off x="4076275" y="83017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6" name="Google Shape;656;p57"/>
          <p:cNvSpPr txBox="1"/>
          <p:nvPr/>
        </p:nvSpPr>
        <p:spPr>
          <a:xfrm>
            <a:off x="290525" y="1355825"/>
            <a:ext cx="36585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Slab"/>
                <a:ea typeface="Roboto Slab"/>
                <a:cs typeface="Roboto Slab"/>
                <a:sym typeface="Roboto Slab"/>
              </a:rPr>
              <a:t>Input Records </a:t>
            </a: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3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57" name="Google Shape;657;p57"/>
          <p:cNvSpPr txBox="1"/>
          <p:nvPr/>
        </p:nvSpPr>
        <p:spPr>
          <a:xfrm>
            <a:off x="4336475" y="1054525"/>
            <a:ext cx="4401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Are these input records are (Key, Value) pairs 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58" name="Google Shape;658;p57"/>
          <p:cNvSpPr txBox="1"/>
          <p:nvPr/>
        </p:nvSpPr>
        <p:spPr>
          <a:xfrm>
            <a:off x="5589988" y="2101225"/>
            <a:ext cx="2152200" cy="646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NO</a:t>
            </a:r>
            <a:endParaRPr sz="3000">
              <a:solidFill>
                <a:srgbClr val="FF0000"/>
              </a:solidFill>
              <a:highlight>
                <a:schemeClr val="lt1"/>
              </a:highlight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59" name="Google Shape;659;p57"/>
          <p:cNvSpPr txBox="1"/>
          <p:nvPr/>
        </p:nvSpPr>
        <p:spPr>
          <a:xfrm>
            <a:off x="4481675" y="3938325"/>
            <a:ext cx="411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How to solve this problem?</a:t>
            </a:r>
            <a:endParaRPr sz="2400">
              <a:solidFill>
                <a:srgbClr val="FF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60" name="Google Shape;660;p57"/>
          <p:cNvCxnSpPr/>
          <p:nvPr/>
        </p:nvCxnSpPr>
        <p:spPr>
          <a:xfrm>
            <a:off x="6666088" y="2747725"/>
            <a:ext cx="20400" cy="938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8"/>
          <p:cNvSpPr txBox="1"/>
          <p:nvPr/>
        </p:nvSpPr>
        <p:spPr>
          <a:xfrm>
            <a:off x="1033000" y="1172900"/>
            <a:ext cx="74247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latin typeface="Roboto Slab"/>
                <a:ea typeface="Roboto Slab"/>
                <a:cs typeface="Roboto Slab"/>
                <a:sym typeface="Roboto Slab"/>
              </a:rPr>
              <a:t>Here Record Reader comes into picture</a:t>
            </a:r>
            <a:endParaRPr sz="4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0" name="Google Shape;670;p59"/>
          <p:cNvCxnSpPr/>
          <p:nvPr/>
        </p:nvCxnSpPr>
        <p:spPr>
          <a:xfrm>
            <a:off x="4550550" y="722700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59"/>
          <p:cNvSpPr txBox="1"/>
          <p:nvPr/>
        </p:nvSpPr>
        <p:spPr>
          <a:xfrm>
            <a:off x="247475" y="2202300"/>
            <a:ext cx="3981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Roboto Slab"/>
                <a:ea typeface="Roboto Slab"/>
                <a:cs typeface="Roboto Slab"/>
                <a:sym typeface="Roboto Slab"/>
              </a:rPr>
              <a:t>Record Reader</a:t>
            </a:r>
            <a:endParaRPr sz="36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2" name="Google Shape;672;p59"/>
          <p:cNvSpPr txBox="1"/>
          <p:nvPr/>
        </p:nvSpPr>
        <p:spPr>
          <a:xfrm>
            <a:off x="4982100" y="1555800"/>
            <a:ext cx="379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The role of Record Reader is to convert each input line into (Key, Value) pair suitable for reading by the Mapper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3" name="Google Shape;673;p59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0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9" name="Google Shape;679;p60"/>
          <p:cNvSpPr txBox="1"/>
          <p:nvPr/>
        </p:nvSpPr>
        <p:spPr>
          <a:xfrm>
            <a:off x="1146575" y="4157675"/>
            <a:ext cx="676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Record Reader converting input record to (Key, Value) pair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0" name="Google Shape;680;p60"/>
          <p:cNvSpPr/>
          <p:nvPr/>
        </p:nvSpPr>
        <p:spPr>
          <a:xfrm>
            <a:off x="267850" y="1184075"/>
            <a:ext cx="2636100" cy="23574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. . 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60"/>
          <p:cNvSpPr/>
          <p:nvPr/>
        </p:nvSpPr>
        <p:spPr>
          <a:xfrm>
            <a:off x="3656775" y="1221575"/>
            <a:ext cx="2282400" cy="2357400"/>
          </a:xfrm>
          <a:prstGeom prst="roundRect">
            <a:avLst>
              <a:gd name="adj" fmla="val 16667"/>
            </a:avLst>
          </a:prstGeom>
          <a:solidFill>
            <a:srgbClr val="76A5AF"/>
          </a:solidFill>
          <a:ln w="1905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Record Reader</a:t>
            </a:r>
            <a:endParaRPr sz="1800"/>
          </a:p>
        </p:txBody>
      </p:sp>
      <p:sp>
        <p:nvSpPr>
          <p:cNvPr id="682" name="Google Shape;682;p60"/>
          <p:cNvSpPr/>
          <p:nvPr/>
        </p:nvSpPr>
        <p:spPr>
          <a:xfrm>
            <a:off x="6472250" y="1221575"/>
            <a:ext cx="2432400" cy="22824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00,    Hello how are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23,    Hello world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58,    . . .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99,    . . .</a:t>
            </a:r>
            <a:endParaRPr/>
          </a:p>
        </p:txBody>
      </p:sp>
      <p:sp>
        <p:nvSpPr>
          <p:cNvPr id="683" name="Google Shape;683;p60"/>
          <p:cNvSpPr/>
          <p:nvPr/>
        </p:nvSpPr>
        <p:spPr>
          <a:xfrm>
            <a:off x="6590100" y="1939475"/>
            <a:ext cx="342900" cy="921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60"/>
          <p:cNvSpPr/>
          <p:nvPr/>
        </p:nvSpPr>
        <p:spPr>
          <a:xfrm>
            <a:off x="7029450" y="1939475"/>
            <a:ext cx="1564200" cy="921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5" name="Google Shape;685;p60"/>
          <p:cNvCxnSpPr/>
          <p:nvPr/>
        </p:nvCxnSpPr>
        <p:spPr>
          <a:xfrm>
            <a:off x="3005838" y="2357375"/>
            <a:ext cx="589200" cy="1080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6" name="Google Shape;686;p60"/>
          <p:cNvCxnSpPr/>
          <p:nvPr/>
        </p:nvCxnSpPr>
        <p:spPr>
          <a:xfrm>
            <a:off x="6000888" y="2394875"/>
            <a:ext cx="589200" cy="10800"/>
          </a:xfrm>
          <a:prstGeom prst="straightConnector1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7" name="Google Shape;687;p60"/>
          <p:cNvSpPr txBox="1"/>
          <p:nvPr/>
        </p:nvSpPr>
        <p:spPr>
          <a:xfrm>
            <a:off x="908950" y="821375"/>
            <a:ext cx="181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Input Records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8" name="Google Shape;688;p60"/>
          <p:cNvSpPr txBox="1"/>
          <p:nvPr/>
        </p:nvSpPr>
        <p:spPr>
          <a:xfrm>
            <a:off x="6872300" y="814400"/>
            <a:ext cx="19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Output Records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89" name="Google Shape;689;p60"/>
          <p:cNvCxnSpPr/>
          <p:nvPr/>
        </p:nvCxnSpPr>
        <p:spPr>
          <a:xfrm>
            <a:off x="6757950" y="2861075"/>
            <a:ext cx="720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0" name="Google Shape;690;p60"/>
          <p:cNvCxnSpPr/>
          <p:nvPr/>
        </p:nvCxnSpPr>
        <p:spPr>
          <a:xfrm>
            <a:off x="7684850" y="2861075"/>
            <a:ext cx="720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1" name="Google Shape;691;p60"/>
          <p:cNvSpPr txBox="1"/>
          <p:nvPr/>
        </p:nvSpPr>
        <p:spPr>
          <a:xfrm>
            <a:off x="6517400" y="3081575"/>
            <a:ext cx="58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</a:t>
            </a:r>
            <a:endParaRPr/>
          </a:p>
        </p:txBody>
      </p:sp>
      <p:sp>
        <p:nvSpPr>
          <p:cNvPr id="692" name="Google Shape;692;p60"/>
          <p:cNvSpPr txBox="1"/>
          <p:nvPr/>
        </p:nvSpPr>
        <p:spPr>
          <a:xfrm>
            <a:off x="7372350" y="3081575"/>
            <a:ext cx="78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VALUE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"/>
          <p:cNvSpPr txBox="1"/>
          <p:nvPr/>
        </p:nvSpPr>
        <p:spPr>
          <a:xfrm>
            <a:off x="1864525" y="1693075"/>
            <a:ext cx="5754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MAPPER</a:t>
            </a:r>
            <a:endParaRPr sz="9600">
              <a:solidFill>
                <a:srgbClr val="FF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2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03" name="Google Shape;703;p62"/>
          <p:cNvSpPr/>
          <p:nvPr/>
        </p:nvSpPr>
        <p:spPr>
          <a:xfrm>
            <a:off x="353575" y="1837175"/>
            <a:ext cx="1886100" cy="25242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how are you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Hello world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Hi there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This is me</a:t>
            </a:r>
            <a:endParaRPr sz="13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04" name="Google Shape;704;p62"/>
          <p:cNvCxnSpPr/>
          <p:nvPr/>
        </p:nvCxnSpPr>
        <p:spPr>
          <a:xfrm>
            <a:off x="2301325" y="2946800"/>
            <a:ext cx="417900" cy="21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5" name="Google Shape;705;p62"/>
          <p:cNvSpPr txBox="1"/>
          <p:nvPr/>
        </p:nvSpPr>
        <p:spPr>
          <a:xfrm>
            <a:off x="664375" y="1243025"/>
            <a:ext cx="1114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Input Record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06" name="Google Shape;706;p62"/>
          <p:cNvSpPr/>
          <p:nvPr/>
        </p:nvSpPr>
        <p:spPr>
          <a:xfrm>
            <a:off x="4807800" y="1757093"/>
            <a:ext cx="1756200" cy="25293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00, Hello how...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23, Hello world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38, Hi there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49, This is me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63, Hello how...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79, Hello world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85, Hi there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99, This is me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115, ...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143, ...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07" name="Google Shape;707;p62"/>
          <p:cNvSpPr txBox="1"/>
          <p:nvPr/>
        </p:nvSpPr>
        <p:spPr>
          <a:xfrm>
            <a:off x="5171246" y="1319975"/>
            <a:ext cx="980700" cy="461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800" b="1">
                <a:solidFill>
                  <a:srgbClr val="990000"/>
                </a:solidFill>
                <a:latin typeface="Roboto Slab"/>
                <a:ea typeface="Roboto Slab"/>
                <a:cs typeface="Roboto Slab"/>
                <a:sym typeface="Roboto Slab"/>
              </a:rPr>
              <a:t>k</a:t>
            </a: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GB" sz="1800" b="1">
                <a:solidFill>
                  <a:srgbClr val="990000"/>
                </a:solidFill>
                <a:latin typeface="Roboto Slab"/>
                <a:ea typeface="Roboto Slab"/>
                <a:cs typeface="Roboto Slab"/>
                <a:sym typeface="Roboto Slab"/>
              </a:rPr>
              <a:t>v</a:t>
            </a: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)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08" name="Google Shape;708;p62"/>
          <p:cNvCxnSpPr/>
          <p:nvPr/>
        </p:nvCxnSpPr>
        <p:spPr>
          <a:xfrm>
            <a:off x="6675409" y="2949061"/>
            <a:ext cx="490500" cy="16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9" name="Google Shape;709;p62"/>
          <p:cNvSpPr/>
          <p:nvPr/>
        </p:nvSpPr>
        <p:spPr>
          <a:xfrm>
            <a:off x="7277301" y="1782450"/>
            <a:ext cx="1756200" cy="24786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/>
              <a:t>M</a:t>
            </a:r>
            <a:endParaRPr sz="4800" b="1"/>
          </a:p>
        </p:txBody>
      </p:sp>
      <p:sp>
        <p:nvSpPr>
          <p:cNvPr id="710" name="Google Shape;710;p62"/>
          <p:cNvSpPr txBox="1"/>
          <p:nvPr/>
        </p:nvSpPr>
        <p:spPr>
          <a:xfrm>
            <a:off x="6461101" y="2571750"/>
            <a:ext cx="81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Roboto Slab"/>
                <a:ea typeface="Roboto Slab"/>
                <a:cs typeface="Roboto Slab"/>
                <a:sym typeface="Roboto Slab"/>
              </a:rPr>
              <a:t>input</a:t>
            </a:r>
            <a:endParaRPr>
              <a:solidFill>
                <a:srgbClr val="0000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11" name="Google Shape;711;p62"/>
          <p:cNvSpPr txBox="1"/>
          <p:nvPr/>
        </p:nvSpPr>
        <p:spPr>
          <a:xfrm>
            <a:off x="7441994" y="1319966"/>
            <a:ext cx="117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Mapper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12" name="Google Shape;712;p62"/>
          <p:cNvSpPr/>
          <p:nvPr/>
        </p:nvSpPr>
        <p:spPr>
          <a:xfrm>
            <a:off x="2780865" y="1782450"/>
            <a:ext cx="1468200" cy="24786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/>
              <a:t>R</a:t>
            </a:r>
            <a:endParaRPr sz="4800" b="1"/>
          </a:p>
        </p:txBody>
      </p:sp>
      <p:cxnSp>
        <p:nvCxnSpPr>
          <p:cNvPr id="713" name="Google Shape;713;p62"/>
          <p:cNvCxnSpPr/>
          <p:nvPr/>
        </p:nvCxnSpPr>
        <p:spPr>
          <a:xfrm>
            <a:off x="4319488" y="2946800"/>
            <a:ext cx="417900" cy="21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4" name="Google Shape;714;p62"/>
          <p:cNvSpPr txBox="1"/>
          <p:nvPr/>
        </p:nvSpPr>
        <p:spPr>
          <a:xfrm>
            <a:off x="3044500" y="1166850"/>
            <a:ext cx="105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Record Reader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15" name="Google Shape;715;p62"/>
          <p:cNvSpPr txBox="1"/>
          <p:nvPr/>
        </p:nvSpPr>
        <p:spPr>
          <a:xfrm>
            <a:off x="5250650" y="1103700"/>
            <a:ext cx="98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Records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16" name="Google Shape;716;p62"/>
          <p:cNvSpPr txBox="1"/>
          <p:nvPr/>
        </p:nvSpPr>
        <p:spPr>
          <a:xfrm>
            <a:off x="2104676" y="2477675"/>
            <a:ext cx="81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Roboto Slab"/>
                <a:ea typeface="Roboto Slab"/>
                <a:cs typeface="Roboto Slab"/>
                <a:sym typeface="Roboto Slab"/>
              </a:rPr>
              <a:t>input</a:t>
            </a:r>
            <a:endParaRPr>
              <a:solidFill>
                <a:srgbClr val="0000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17" name="Google Shape;717;p62"/>
          <p:cNvSpPr txBox="1"/>
          <p:nvPr/>
        </p:nvSpPr>
        <p:spPr>
          <a:xfrm>
            <a:off x="4158728" y="2528900"/>
            <a:ext cx="81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output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3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23" name="Google Shape;723;p63"/>
          <p:cNvSpPr txBox="1"/>
          <p:nvPr/>
        </p:nvSpPr>
        <p:spPr>
          <a:xfrm>
            <a:off x="6879425" y="1221575"/>
            <a:ext cx="2014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Does MAPPER understand this data?</a:t>
            </a:r>
            <a:endParaRPr sz="1800" dirty="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24" name="Google Shape;724;p63"/>
          <p:cNvSpPr/>
          <p:nvPr/>
        </p:nvSpPr>
        <p:spPr>
          <a:xfrm>
            <a:off x="7800975" y="2336000"/>
            <a:ext cx="192900" cy="471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63"/>
          <p:cNvSpPr txBox="1"/>
          <p:nvPr/>
        </p:nvSpPr>
        <p:spPr>
          <a:xfrm>
            <a:off x="7179475" y="3064675"/>
            <a:ext cx="1500300" cy="738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FF00"/>
                </a:solidFill>
                <a:latin typeface="Roboto Slab"/>
                <a:ea typeface="Roboto Slab"/>
                <a:cs typeface="Roboto Slab"/>
                <a:sym typeface="Roboto Slab"/>
              </a:rPr>
              <a:t>YES !</a:t>
            </a:r>
            <a:endParaRPr sz="3600">
              <a:solidFill>
                <a:srgbClr val="00FF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26" name="Google Shape;726;p63"/>
          <p:cNvSpPr/>
          <p:nvPr/>
        </p:nvSpPr>
        <p:spPr>
          <a:xfrm>
            <a:off x="412625" y="1393025"/>
            <a:ext cx="2110800" cy="3214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00, Hello how...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23, Hello world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38, Hi there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49, This is me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63, Hello how...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79, Hello world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85, Hi there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99, This is me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115, ...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143, ...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27" name="Google Shape;727;p63"/>
          <p:cNvSpPr txBox="1"/>
          <p:nvPr/>
        </p:nvSpPr>
        <p:spPr>
          <a:xfrm>
            <a:off x="760800" y="848475"/>
            <a:ext cx="1178700" cy="461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800" b="1">
                <a:solidFill>
                  <a:srgbClr val="990000"/>
                </a:solidFill>
                <a:latin typeface="Roboto Slab"/>
                <a:ea typeface="Roboto Slab"/>
                <a:cs typeface="Roboto Slab"/>
                <a:sym typeface="Roboto Slab"/>
              </a:rPr>
              <a:t>k</a:t>
            </a: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GB" sz="1800" b="1">
                <a:solidFill>
                  <a:srgbClr val="990000"/>
                </a:solidFill>
                <a:latin typeface="Roboto Slab"/>
                <a:ea typeface="Roboto Slab"/>
                <a:cs typeface="Roboto Slab"/>
                <a:sym typeface="Roboto Slab"/>
              </a:rPr>
              <a:t>v</a:t>
            </a: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)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28" name="Google Shape;728;p63"/>
          <p:cNvCxnSpPr/>
          <p:nvPr/>
        </p:nvCxnSpPr>
        <p:spPr>
          <a:xfrm>
            <a:off x="2885050" y="2871875"/>
            <a:ext cx="589500" cy="21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9" name="Google Shape;729;p63"/>
          <p:cNvSpPr/>
          <p:nvPr/>
        </p:nvSpPr>
        <p:spPr>
          <a:xfrm>
            <a:off x="3836200" y="1393025"/>
            <a:ext cx="2411100" cy="31503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/>
              <a:t>M</a:t>
            </a:r>
            <a:endParaRPr sz="4800" b="1"/>
          </a:p>
        </p:txBody>
      </p:sp>
      <p:sp>
        <p:nvSpPr>
          <p:cNvPr id="730" name="Google Shape;730;p63"/>
          <p:cNvSpPr txBox="1"/>
          <p:nvPr/>
        </p:nvSpPr>
        <p:spPr>
          <a:xfrm>
            <a:off x="2764625" y="2293150"/>
            <a:ext cx="85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  <a:latin typeface="Roboto Slab"/>
                <a:ea typeface="Roboto Slab"/>
                <a:cs typeface="Roboto Slab"/>
                <a:sym typeface="Roboto Slab"/>
              </a:rPr>
              <a:t>input</a:t>
            </a:r>
            <a:endParaRPr sz="1800">
              <a:solidFill>
                <a:srgbClr val="0000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31" name="Google Shape;731;p63"/>
          <p:cNvSpPr txBox="1"/>
          <p:nvPr/>
        </p:nvSpPr>
        <p:spPr>
          <a:xfrm>
            <a:off x="4221950" y="921550"/>
            <a:ext cx="141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Roboto Slab"/>
                <a:ea typeface="Roboto Slab"/>
                <a:cs typeface="Roboto Slab"/>
                <a:sym typeface="Roboto Slab"/>
              </a:rPr>
              <a:t>Mapper</a:t>
            </a:r>
            <a:endParaRPr sz="1800" b="1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4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37" name="Google Shape;737;p64"/>
          <p:cNvCxnSpPr/>
          <p:nvPr/>
        </p:nvCxnSpPr>
        <p:spPr>
          <a:xfrm>
            <a:off x="3907625" y="722700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8" name="Google Shape;738;p64"/>
          <p:cNvSpPr txBox="1"/>
          <p:nvPr/>
        </p:nvSpPr>
        <p:spPr>
          <a:xfrm>
            <a:off x="4361250" y="1360875"/>
            <a:ext cx="41469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Roboto Slab"/>
                <a:ea typeface="Roboto Slab"/>
                <a:cs typeface="Roboto Slab"/>
                <a:sym typeface="Roboto Slab"/>
              </a:rPr>
              <a:t>Now, what should be the Mapper logic?</a:t>
            </a:r>
            <a:endParaRPr sz="2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Roboto Slab"/>
                <a:ea typeface="Roboto Slab"/>
                <a:cs typeface="Roboto Slab"/>
                <a:sym typeface="Roboto Slab"/>
              </a:rPr>
              <a:t>This logic/program has to be written by the developer</a:t>
            </a:r>
            <a:endParaRPr sz="20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39" name="Google Shape;739;p64"/>
          <p:cNvSpPr/>
          <p:nvPr/>
        </p:nvSpPr>
        <p:spPr>
          <a:xfrm>
            <a:off x="514350" y="1521625"/>
            <a:ext cx="2764500" cy="3096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85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4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40" name="Google Shape;740;p64"/>
          <p:cNvSpPr/>
          <p:nvPr/>
        </p:nvSpPr>
        <p:spPr>
          <a:xfrm>
            <a:off x="750100" y="3450425"/>
            <a:ext cx="2229000" cy="7287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41" name="Google Shape;741;p64"/>
          <p:cNvSpPr txBox="1"/>
          <p:nvPr/>
        </p:nvSpPr>
        <p:spPr>
          <a:xfrm>
            <a:off x="792950" y="953700"/>
            <a:ext cx="197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Mapper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5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47" name="Google Shape;747;p65"/>
          <p:cNvCxnSpPr/>
          <p:nvPr/>
        </p:nvCxnSpPr>
        <p:spPr>
          <a:xfrm>
            <a:off x="4046925" y="70967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8" name="Google Shape;748;p65"/>
          <p:cNvSpPr txBox="1"/>
          <p:nvPr/>
        </p:nvSpPr>
        <p:spPr>
          <a:xfrm>
            <a:off x="4318400" y="1885950"/>
            <a:ext cx="42969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Roboto Slab"/>
                <a:ea typeface="Roboto Slab"/>
                <a:cs typeface="Roboto Slab"/>
                <a:sym typeface="Roboto Slab"/>
              </a:rPr>
              <a:t>Here the keys are not relevant for us</a:t>
            </a:r>
            <a:endParaRPr sz="19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Roboto Slab"/>
                <a:ea typeface="Roboto Slab"/>
                <a:cs typeface="Roboto Slab"/>
                <a:sym typeface="Roboto Slab"/>
              </a:rPr>
              <a:t>We only consider the values</a:t>
            </a:r>
            <a:endParaRPr sz="19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49" name="Google Shape;749;p65"/>
          <p:cNvSpPr/>
          <p:nvPr/>
        </p:nvSpPr>
        <p:spPr>
          <a:xfrm>
            <a:off x="771525" y="1575200"/>
            <a:ext cx="2839800" cy="26253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38100" cap="flat" cmpd="sng">
            <a:solidFill>
              <a:srgbClr val="99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000,      Hello how...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123,      Hello world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238,      Hi there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249,      This is 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363,      Hello how...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379,      Hello world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385,      Hi there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399,      This is 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515,       . . .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643,       . . .</a:t>
            </a:r>
            <a:endParaRPr/>
          </a:p>
        </p:txBody>
      </p:sp>
      <p:cxnSp>
        <p:nvCxnSpPr>
          <p:cNvPr id="750" name="Google Shape;750;p65"/>
          <p:cNvCxnSpPr/>
          <p:nvPr/>
        </p:nvCxnSpPr>
        <p:spPr>
          <a:xfrm>
            <a:off x="964400" y="1918100"/>
            <a:ext cx="407100" cy="189660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1" name="Google Shape;751;p65"/>
          <p:cNvCxnSpPr/>
          <p:nvPr/>
        </p:nvCxnSpPr>
        <p:spPr>
          <a:xfrm flipH="1">
            <a:off x="900350" y="1960950"/>
            <a:ext cx="428400" cy="1832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2" name="Google Shape;752;p65"/>
          <p:cNvCxnSpPr/>
          <p:nvPr/>
        </p:nvCxnSpPr>
        <p:spPr>
          <a:xfrm>
            <a:off x="1618050" y="2668200"/>
            <a:ext cx="257100" cy="225000"/>
          </a:xfrm>
          <a:prstGeom prst="straightConnector1">
            <a:avLst/>
          </a:prstGeom>
          <a:noFill/>
          <a:ln w="1143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3" name="Google Shape;753;p65"/>
          <p:cNvCxnSpPr/>
          <p:nvPr/>
        </p:nvCxnSpPr>
        <p:spPr>
          <a:xfrm rot="10800000" flipH="1">
            <a:off x="1810925" y="2368200"/>
            <a:ext cx="514500" cy="525000"/>
          </a:xfrm>
          <a:prstGeom prst="straightConnector1">
            <a:avLst/>
          </a:prstGeom>
          <a:noFill/>
          <a:ln w="1143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4" name="Google Shape;754;p65"/>
          <p:cNvSpPr txBox="1"/>
          <p:nvPr/>
        </p:nvSpPr>
        <p:spPr>
          <a:xfrm>
            <a:off x="1028700" y="985850"/>
            <a:ext cx="19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800">
                <a:solidFill>
                  <a:srgbClr val="990000"/>
                </a:solidFill>
                <a:latin typeface="Roboto Slab"/>
                <a:ea typeface="Roboto Slab"/>
                <a:cs typeface="Roboto Slab"/>
                <a:sym typeface="Roboto Slab"/>
              </a:rPr>
              <a:t>k</a:t>
            </a: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GB" sz="1800">
                <a:solidFill>
                  <a:srgbClr val="990000"/>
                </a:solidFill>
                <a:latin typeface="Roboto Slab"/>
                <a:ea typeface="Roboto Slab"/>
                <a:cs typeface="Roboto Slab"/>
                <a:sym typeface="Roboto Slab"/>
              </a:rPr>
              <a:t>v</a:t>
            </a: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) Pairs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6"/>
          <p:cNvSpPr txBox="1"/>
          <p:nvPr/>
        </p:nvSpPr>
        <p:spPr>
          <a:xfrm>
            <a:off x="497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60" name="Google Shape;760;p66"/>
          <p:cNvSpPr/>
          <p:nvPr/>
        </p:nvSpPr>
        <p:spPr>
          <a:xfrm>
            <a:off x="462100" y="765625"/>
            <a:ext cx="1232400" cy="6645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Input Record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61" name="Google Shape;761;p66"/>
          <p:cNvSpPr/>
          <p:nvPr/>
        </p:nvSpPr>
        <p:spPr>
          <a:xfrm>
            <a:off x="482200" y="1847950"/>
            <a:ext cx="1200300" cy="4764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Slab"/>
                <a:ea typeface="Roboto Slab"/>
                <a:cs typeface="Roboto Slab"/>
                <a:sym typeface="Roboto Slab"/>
              </a:rPr>
              <a:t>R</a:t>
            </a:r>
            <a:endParaRPr sz="30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62" name="Google Shape;762;p66"/>
          <p:cNvCxnSpPr/>
          <p:nvPr/>
        </p:nvCxnSpPr>
        <p:spPr>
          <a:xfrm>
            <a:off x="1078300" y="1430050"/>
            <a:ext cx="8100" cy="417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3" name="Google Shape;763;p66"/>
          <p:cNvCxnSpPr/>
          <p:nvPr/>
        </p:nvCxnSpPr>
        <p:spPr>
          <a:xfrm>
            <a:off x="1074250" y="2324350"/>
            <a:ext cx="8100" cy="417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4" name="Google Shape;764;p66"/>
          <p:cNvSpPr/>
          <p:nvPr/>
        </p:nvSpPr>
        <p:spPr>
          <a:xfrm>
            <a:off x="203575" y="2742175"/>
            <a:ext cx="2110800" cy="200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00, Hello how...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23, Hello world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38, Hi there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49, This is me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63, Hello how...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79, Hello world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85, Hi there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99, This is me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115, ...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 Slab"/>
                <a:ea typeface="Roboto Slab"/>
                <a:cs typeface="Roboto Slab"/>
                <a:sym typeface="Roboto Slab"/>
              </a:rPr>
              <a:t>143, ...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65" name="Google Shape;765;p66"/>
          <p:cNvSpPr txBox="1"/>
          <p:nvPr/>
        </p:nvSpPr>
        <p:spPr>
          <a:xfrm>
            <a:off x="117775" y="4750950"/>
            <a:ext cx="219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Records (k, v)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66" name="Google Shape;76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25" y="846525"/>
            <a:ext cx="935755" cy="756628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67" name="Google Shape;767;p66"/>
          <p:cNvSpPr/>
          <p:nvPr/>
        </p:nvSpPr>
        <p:spPr>
          <a:xfrm>
            <a:off x="3428975" y="2742175"/>
            <a:ext cx="2764500" cy="2004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 Slab"/>
                <a:ea typeface="Roboto Slab"/>
                <a:cs typeface="Roboto Slab"/>
                <a:sym typeface="Roboto Slab"/>
              </a:rPr>
              <a:t>M (Program)</a:t>
            </a: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68" name="Google Shape;768;p66"/>
          <p:cNvCxnSpPr/>
          <p:nvPr/>
        </p:nvCxnSpPr>
        <p:spPr>
          <a:xfrm rot="10800000" flipH="1">
            <a:off x="2626975" y="3696825"/>
            <a:ext cx="618000" cy="1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9" name="Google Shape;769;p66"/>
          <p:cNvSpPr txBox="1"/>
          <p:nvPr/>
        </p:nvSpPr>
        <p:spPr>
          <a:xfrm>
            <a:off x="4211075" y="4743300"/>
            <a:ext cx="1200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Roboto Slab"/>
                <a:ea typeface="Roboto Slab"/>
                <a:cs typeface="Roboto Slab"/>
                <a:sym typeface="Roboto Slab"/>
              </a:rPr>
              <a:t>Mapper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70" name="Google Shape;770;p66"/>
          <p:cNvCxnSpPr/>
          <p:nvPr/>
        </p:nvCxnSpPr>
        <p:spPr>
          <a:xfrm rot="10800000" flipH="1">
            <a:off x="6315525" y="3624200"/>
            <a:ext cx="618000" cy="1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1" name="Google Shape;771;p66"/>
          <p:cNvSpPr/>
          <p:nvPr/>
        </p:nvSpPr>
        <p:spPr>
          <a:xfrm>
            <a:off x="7040175" y="1532325"/>
            <a:ext cx="2014500" cy="3289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38100" cap="flat" cmpd="sng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(Hello, 1)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(how,   1)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(are,     1)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(you,    1)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(Hello, 1)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(world,1)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(Hi,      1)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(there, 1)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72" name="Google Shape;772;p66"/>
          <p:cNvCxnSpPr/>
          <p:nvPr/>
        </p:nvCxnSpPr>
        <p:spPr>
          <a:xfrm>
            <a:off x="4907750" y="1243025"/>
            <a:ext cx="10800" cy="2250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73" name="Google Shape;773;p66"/>
          <p:cNvCxnSpPr>
            <a:stCxn id="766" idx="3"/>
          </p:cNvCxnSpPr>
          <p:nvPr/>
        </p:nvCxnSpPr>
        <p:spPr>
          <a:xfrm rot="10800000" flipH="1">
            <a:off x="3703980" y="1200239"/>
            <a:ext cx="1203900" cy="24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74" name="Google Shape;774;p66"/>
          <p:cNvSpPr txBox="1"/>
          <p:nvPr/>
        </p:nvSpPr>
        <p:spPr>
          <a:xfrm>
            <a:off x="2486025" y="3214700"/>
            <a:ext cx="857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Roboto Slab"/>
                <a:ea typeface="Roboto Slab"/>
                <a:cs typeface="Roboto Slab"/>
                <a:sym typeface="Roboto Slab"/>
              </a:rPr>
              <a:t>input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75" name="Google Shape;775;p66"/>
          <p:cNvSpPr txBox="1"/>
          <p:nvPr/>
        </p:nvSpPr>
        <p:spPr>
          <a:xfrm>
            <a:off x="5103063" y="1430125"/>
            <a:ext cx="1752600" cy="6465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Roboto Slab"/>
                <a:ea typeface="Roboto Slab"/>
                <a:cs typeface="Roboto Slab"/>
                <a:sym typeface="Roboto Slab"/>
              </a:rPr>
              <a:t>Ignore the keys </a:t>
            </a:r>
            <a:endParaRPr sz="1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Roboto Slab"/>
                <a:ea typeface="Roboto Slab"/>
                <a:cs typeface="Roboto Slab"/>
                <a:sym typeface="Roboto Slab"/>
              </a:rPr>
              <a:t>Only consider the values</a:t>
            </a:r>
            <a:endParaRPr sz="1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Roboto Slab"/>
                <a:ea typeface="Roboto Slab"/>
                <a:cs typeface="Roboto Slab"/>
                <a:sym typeface="Roboto Slab"/>
              </a:rPr>
              <a:t>Split based on space</a:t>
            </a:r>
            <a:endParaRPr sz="10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76" name="Google Shape;776;p66"/>
          <p:cNvSpPr txBox="1"/>
          <p:nvPr/>
        </p:nvSpPr>
        <p:spPr>
          <a:xfrm>
            <a:off x="7050875" y="1093000"/>
            <a:ext cx="192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Expected output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77" name="Google Shape;777;p66"/>
          <p:cNvSpPr txBox="1"/>
          <p:nvPr/>
        </p:nvSpPr>
        <p:spPr>
          <a:xfrm>
            <a:off x="5561400" y="760800"/>
            <a:ext cx="316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How Mapper works</a:t>
            </a:r>
            <a:endParaRPr sz="1800">
              <a:solidFill>
                <a:srgbClr val="FF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78" name="Google Shape;778;p66"/>
          <p:cNvCxnSpPr/>
          <p:nvPr/>
        </p:nvCxnSpPr>
        <p:spPr>
          <a:xfrm flipH="1">
            <a:off x="8013275" y="4442450"/>
            <a:ext cx="3900" cy="392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9" name="Google Shape;779;p66"/>
          <p:cNvCxnSpPr/>
          <p:nvPr/>
        </p:nvCxnSpPr>
        <p:spPr>
          <a:xfrm>
            <a:off x="7432350" y="4442450"/>
            <a:ext cx="4200" cy="433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0" name="Google Shape;780;p66"/>
          <p:cNvSpPr txBox="1"/>
          <p:nvPr/>
        </p:nvSpPr>
        <p:spPr>
          <a:xfrm>
            <a:off x="7222250" y="4822025"/>
            <a:ext cx="55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</a:t>
            </a:r>
            <a:endParaRPr/>
          </a:p>
        </p:txBody>
      </p:sp>
      <p:sp>
        <p:nvSpPr>
          <p:cNvPr id="781" name="Google Shape;781;p66"/>
          <p:cNvSpPr txBox="1"/>
          <p:nvPr/>
        </p:nvSpPr>
        <p:spPr>
          <a:xfrm>
            <a:off x="7800975" y="4822025"/>
            <a:ext cx="81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Value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7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87" name="Google Shape;787;p67"/>
          <p:cNvSpPr/>
          <p:nvPr/>
        </p:nvSpPr>
        <p:spPr>
          <a:xfrm>
            <a:off x="192875" y="889400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88" name="Google Shape;788;p67"/>
          <p:cNvSpPr/>
          <p:nvPr/>
        </p:nvSpPr>
        <p:spPr>
          <a:xfrm>
            <a:off x="192875" y="1865138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/>
          </a:p>
        </p:txBody>
      </p:sp>
      <p:sp>
        <p:nvSpPr>
          <p:cNvPr id="789" name="Google Shape;789;p67"/>
          <p:cNvSpPr/>
          <p:nvPr/>
        </p:nvSpPr>
        <p:spPr>
          <a:xfrm>
            <a:off x="192875" y="2913175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/>
          </a:p>
        </p:txBody>
      </p:sp>
      <p:sp>
        <p:nvSpPr>
          <p:cNvPr id="790" name="Google Shape;790;p67"/>
          <p:cNvSpPr/>
          <p:nvPr/>
        </p:nvSpPr>
        <p:spPr>
          <a:xfrm>
            <a:off x="192875" y="3961200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/>
          </a:p>
        </p:txBody>
      </p:sp>
      <p:cxnSp>
        <p:nvCxnSpPr>
          <p:cNvPr id="791" name="Google Shape;791;p67"/>
          <p:cNvCxnSpPr>
            <a:stCxn id="787" idx="3"/>
          </p:cNvCxnSpPr>
          <p:nvPr/>
        </p:nvCxnSpPr>
        <p:spPr>
          <a:xfrm>
            <a:off x="1671575" y="1344800"/>
            <a:ext cx="10503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792" name="Google Shape;792;p67"/>
          <p:cNvCxnSpPr/>
          <p:nvPr/>
        </p:nvCxnSpPr>
        <p:spPr>
          <a:xfrm>
            <a:off x="1671575" y="2353988"/>
            <a:ext cx="10503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793" name="Google Shape;793;p67"/>
          <p:cNvCxnSpPr/>
          <p:nvPr/>
        </p:nvCxnSpPr>
        <p:spPr>
          <a:xfrm>
            <a:off x="1671575" y="3417675"/>
            <a:ext cx="10503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794" name="Google Shape;794;p67"/>
          <p:cNvCxnSpPr/>
          <p:nvPr/>
        </p:nvCxnSpPr>
        <p:spPr>
          <a:xfrm>
            <a:off x="1671575" y="4413900"/>
            <a:ext cx="10503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795" name="Google Shape;795;p67"/>
          <p:cNvSpPr/>
          <p:nvPr/>
        </p:nvSpPr>
        <p:spPr>
          <a:xfrm>
            <a:off x="2721875" y="1068950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96" name="Google Shape;796;p67"/>
          <p:cNvSpPr/>
          <p:nvPr/>
        </p:nvSpPr>
        <p:spPr>
          <a:xfrm>
            <a:off x="2721875" y="2105388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97" name="Google Shape;797;p67"/>
          <p:cNvSpPr/>
          <p:nvPr/>
        </p:nvSpPr>
        <p:spPr>
          <a:xfrm>
            <a:off x="2721875" y="3141825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98" name="Google Shape;798;p67"/>
          <p:cNvSpPr/>
          <p:nvPr/>
        </p:nvSpPr>
        <p:spPr>
          <a:xfrm>
            <a:off x="2721875" y="4138050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99" name="Google Shape;799;p67"/>
          <p:cNvCxnSpPr/>
          <p:nvPr/>
        </p:nvCxnSpPr>
        <p:spPr>
          <a:xfrm>
            <a:off x="3268175" y="1416725"/>
            <a:ext cx="1189500" cy="898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00" name="Google Shape;800;p67"/>
          <p:cNvCxnSpPr>
            <a:stCxn id="796" idx="6"/>
            <a:endCxn id="801" idx="1"/>
          </p:cNvCxnSpPr>
          <p:nvPr/>
        </p:nvCxnSpPr>
        <p:spPr>
          <a:xfrm>
            <a:off x="3311375" y="2383938"/>
            <a:ext cx="1146300" cy="30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02" name="Google Shape;802;p67"/>
          <p:cNvCxnSpPr/>
          <p:nvPr/>
        </p:nvCxnSpPr>
        <p:spPr>
          <a:xfrm rot="10800000" flipH="1">
            <a:off x="3218675" y="2903925"/>
            <a:ext cx="1228200" cy="371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03" name="Google Shape;803;p67"/>
          <p:cNvCxnSpPr/>
          <p:nvPr/>
        </p:nvCxnSpPr>
        <p:spPr>
          <a:xfrm rot="10800000" flipH="1">
            <a:off x="3268175" y="3086025"/>
            <a:ext cx="1221600" cy="1209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801" name="Google Shape;801;p67"/>
          <p:cNvSpPr/>
          <p:nvPr/>
        </p:nvSpPr>
        <p:spPr>
          <a:xfrm>
            <a:off x="4457675" y="2231025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5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804" name="Google Shape;804;p67"/>
          <p:cNvCxnSpPr/>
          <p:nvPr/>
        </p:nvCxnSpPr>
        <p:spPr>
          <a:xfrm>
            <a:off x="3761175" y="1200150"/>
            <a:ext cx="10800" cy="3332700"/>
          </a:xfrm>
          <a:prstGeom prst="straightConnector1">
            <a:avLst/>
          </a:prstGeom>
          <a:noFill/>
          <a:ln w="19050" cap="flat" cmpd="sng">
            <a:solidFill>
              <a:srgbClr val="E06666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805" name="Google Shape;805;p67"/>
          <p:cNvCxnSpPr>
            <a:stCxn id="801" idx="3"/>
          </p:cNvCxnSpPr>
          <p:nvPr/>
        </p:nvCxnSpPr>
        <p:spPr>
          <a:xfrm>
            <a:off x="5936375" y="2686425"/>
            <a:ext cx="525000" cy="20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806" name="Google Shape;806;p67"/>
          <p:cNvSpPr txBox="1"/>
          <p:nvPr/>
        </p:nvSpPr>
        <p:spPr>
          <a:xfrm>
            <a:off x="3761175" y="9172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&lt; Shuffle &amp; sort</a:t>
            </a:r>
            <a:endParaRPr/>
          </a:p>
        </p:txBody>
      </p:sp>
      <p:sp>
        <p:nvSpPr>
          <p:cNvPr id="807" name="Google Shape;807;p67"/>
          <p:cNvSpPr/>
          <p:nvPr/>
        </p:nvSpPr>
        <p:spPr>
          <a:xfrm>
            <a:off x="6461375" y="1800200"/>
            <a:ext cx="2764800" cy="20574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3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are</a:t>
            </a: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, {1, 1, 1, 1, 1, 1, 1, 1, 1, 1, 1, 1, 1})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3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Hello</a:t>
            </a: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, {1, 1, 1, 1, 1, 1, 1, 1, 1, 1})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3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how</a:t>
            </a: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, {1, 1, 1, 1, 1, 1, 1})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3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is</a:t>
            </a: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, {1, 1, 1, 1, 1, 1, 1, 1, 1, 1, 1, 1, 1, 1})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3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me</a:t>
            </a:r>
            <a:r>
              <a:rPr lang="en-GB" sz="1300">
                <a:latin typeface="Roboto Slab"/>
                <a:ea typeface="Roboto Slab"/>
                <a:cs typeface="Roboto Slab"/>
                <a:sym typeface="Roboto Slab"/>
              </a:rPr>
              <a:t>, {1, 1, 1, 1, 1})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08" name="Google Shape;808;p67"/>
          <p:cNvSpPr txBox="1"/>
          <p:nvPr/>
        </p:nvSpPr>
        <p:spPr>
          <a:xfrm>
            <a:off x="6686550" y="4018350"/>
            <a:ext cx="228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after shuffle &amp; sort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8"/>
          <p:cNvSpPr txBox="1"/>
          <p:nvPr/>
        </p:nvSpPr>
        <p:spPr>
          <a:xfrm>
            <a:off x="1607350" y="1489475"/>
            <a:ext cx="58722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REDUCER</a:t>
            </a:r>
            <a:endParaRPr sz="9600">
              <a:solidFill>
                <a:srgbClr val="FF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9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819" name="Google Shape;819;p69"/>
          <p:cNvCxnSpPr/>
          <p:nvPr/>
        </p:nvCxnSpPr>
        <p:spPr>
          <a:xfrm>
            <a:off x="3457575" y="765625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0" name="Google Shape;820;p69"/>
          <p:cNvSpPr txBox="1"/>
          <p:nvPr/>
        </p:nvSpPr>
        <p:spPr>
          <a:xfrm>
            <a:off x="3825475" y="1500200"/>
            <a:ext cx="50472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Now, What should be the Reducer logic?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The Reducer logic/program has to be written by the developer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21" name="Google Shape;821;p69"/>
          <p:cNvSpPr/>
          <p:nvPr/>
        </p:nvSpPr>
        <p:spPr>
          <a:xfrm>
            <a:off x="578650" y="1371600"/>
            <a:ext cx="2432400" cy="3396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latin typeface="Roboto Slab"/>
                <a:ea typeface="Roboto Slab"/>
                <a:cs typeface="Roboto Slab"/>
                <a:sym typeface="Roboto Slab"/>
              </a:rPr>
              <a:t>R</a:t>
            </a:r>
            <a:endParaRPr sz="60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22" name="Google Shape;822;p69"/>
          <p:cNvSpPr/>
          <p:nvPr/>
        </p:nvSpPr>
        <p:spPr>
          <a:xfrm>
            <a:off x="857250" y="3600450"/>
            <a:ext cx="1896600" cy="8250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PROGRAM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23" name="Google Shape;823;p69"/>
          <p:cNvSpPr txBox="1"/>
          <p:nvPr/>
        </p:nvSpPr>
        <p:spPr>
          <a:xfrm>
            <a:off x="750100" y="932250"/>
            <a:ext cx="218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Reducer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0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829" name="Google Shape;829;p70"/>
          <p:cNvCxnSpPr/>
          <p:nvPr/>
        </p:nvCxnSpPr>
        <p:spPr>
          <a:xfrm>
            <a:off x="4786300" y="744163"/>
            <a:ext cx="42900" cy="442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0" name="Google Shape;830;p70"/>
          <p:cNvSpPr txBox="1"/>
          <p:nvPr/>
        </p:nvSpPr>
        <p:spPr>
          <a:xfrm>
            <a:off x="5025625" y="1446600"/>
            <a:ext cx="3600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Roboto Slab"/>
                <a:ea typeface="Roboto Slab"/>
                <a:cs typeface="Roboto Slab"/>
                <a:sym typeface="Roboto Slab"/>
              </a:rPr>
              <a:t>The Reducer logic should be - we iterate over the list of values and sum it up </a:t>
            </a:r>
            <a:endParaRPr sz="24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31" name="Google Shape;831;p70"/>
          <p:cNvSpPr/>
          <p:nvPr/>
        </p:nvSpPr>
        <p:spPr>
          <a:xfrm>
            <a:off x="546500" y="1725225"/>
            <a:ext cx="3943200" cy="20574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are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, {1, 1, 1, 1, 1, 1, 1, 1, 1, 1, 1, 1, 1})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Hello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, {1, 1, 1, 1, 1, 1, 1, 1, 1, 1})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how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, {1, 1, 1, 1, 1, 1, 1})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is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, {1, 1, 1, 1, 1, 1, 1, 1, 1, 1, 1, 1, 1, 1})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me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, {1, 1, 1, 1, 1})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832" name="Google Shape;832;p70"/>
          <p:cNvCxnSpPr/>
          <p:nvPr/>
        </p:nvCxnSpPr>
        <p:spPr>
          <a:xfrm rot="10800000" flipH="1">
            <a:off x="1210875" y="2068025"/>
            <a:ext cx="1939500" cy="108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3" name="Google Shape;833;p70"/>
          <p:cNvCxnSpPr/>
          <p:nvPr/>
        </p:nvCxnSpPr>
        <p:spPr>
          <a:xfrm rot="10800000">
            <a:off x="2068025" y="964400"/>
            <a:ext cx="10800" cy="878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834" name="Google Shape;834;p70"/>
          <p:cNvSpPr txBox="1"/>
          <p:nvPr/>
        </p:nvSpPr>
        <p:spPr>
          <a:xfrm>
            <a:off x="2164550" y="857250"/>
            <a:ext cx="158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Iterate &amp; sum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35" name="Google Shape;835;p70"/>
          <p:cNvSpPr txBox="1"/>
          <p:nvPr/>
        </p:nvSpPr>
        <p:spPr>
          <a:xfrm>
            <a:off x="728450" y="3986200"/>
            <a:ext cx="302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After shuffle &amp; sort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1"/>
          <p:cNvSpPr txBox="1"/>
          <p:nvPr/>
        </p:nvSpPr>
        <p:spPr>
          <a:xfrm>
            <a:off x="878675" y="150025"/>
            <a:ext cx="422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Roboto Slab"/>
                <a:ea typeface="Roboto Slab"/>
                <a:cs typeface="Roboto Slab"/>
                <a:sym typeface="Roboto Slab"/>
              </a:rPr>
              <a:t>What is MapReduce?</a:t>
            </a:r>
            <a:endParaRPr sz="2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41" name="Google Shape;841;p71"/>
          <p:cNvSpPr/>
          <p:nvPr/>
        </p:nvSpPr>
        <p:spPr>
          <a:xfrm>
            <a:off x="192875" y="889400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1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42" name="Google Shape;842;p71"/>
          <p:cNvSpPr/>
          <p:nvPr/>
        </p:nvSpPr>
        <p:spPr>
          <a:xfrm>
            <a:off x="192875" y="1865138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2</a:t>
            </a:r>
            <a:endParaRPr/>
          </a:p>
        </p:txBody>
      </p:sp>
      <p:sp>
        <p:nvSpPr>
          <p:cNvPr id="843" name="Google Shape;843;p71"/>
          <p:cNvSpPr/>
          <p:nvPr/>
        </p:nvSpPr>
        <p:spPr>
          <a:xfrm>
            <a:off x="192875" y="2913175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3</a:t>
            </a:r>
            <a:endParaRPr/>
          </a:p>
        </p:txBody>
      </p:sp>
      <p:sp>
        <p:nvSpPr>
          <p:cNvPr id="844" name="Google Shape;844;p71"/>
          <p:cNvSpPr/>
          <p:nvPr/>
        </p:nvSpPr>
        <p:spPr>
          <a:xfrm>
            <a:off x="192875" y="3961200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4</a:t>
            </a:r>
            <a:endParaRPr/>
          </a:p>
        </p:txBody>
      </p:sp>
      <p:cxnSp>
        <p:nvCxnSpPr>
          <p:cNvPr id="845" name="Google Shape;845;p71"/>
          <p:cNvCxnSpPr>
            <a:stCxn id="841" idx="3"/>
          </p:cNvCxnSpPr>
          <p:nvPr/>
        </p:nvCxnSpPr>
        <p:spPr>
          <a:xfrm>
            <a:off x="1671575" y="1344800"/>
            <a:ext cx="10503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6" name="Google Shape;846;p71"/>
          <p:cNvCxnSpPr/>
          <p:nvPr/>
        </p:nvCxnSpPr>
        <p:spPr>
          <a:xfrm>
            <a:off x="1671575" y="2353988"/>
            <a:ext cx="10503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7" name="Google Shape;847;p71"/>
          <p:cNvCxnSpPr/>
          <p:nvPr/>
        </p:nvCxnSpPr>
        <p:spPr>
          <a:xfrm>
            <a:off x="1671575" y="3417675"/>
            <a:ext cx="10503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48" name="Google Shape;848;p71"/>
          <p:cNvCxnSpPr/>
          <p:nvPr/>
        </p:nvCxnSpPr>
        <p:spPr>
          <a:xfrm>
            <a:off x="1671575" y="4413900"/>
            <a:ext cx="1050300" cy="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849" name="Google Shape;849;p71"/>
          <p:cNvSpPr/>
          <p:nvPr/>
        </p:nvSpPr>
        <p:spPr>
          <a:xfrm>
            <a:off x="2721875" y="1068950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50" name="Google Shape;850;p71"/>
          <p:cNvSpPr/>
          <p:nvPr/>
        </p:nvSpPr>
        <p:spPr>
          <a:xfrm>
            <a:off x="2721875" y="2105388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51" name="Google Shape;851;p71"/>
          <p:cNvSpPr/>
          <p:nvPr/>
        </p:nvSpPr>
        <p:spPr>
          <a:xfrm>
            <a:off x="2721875" y="3141825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52" name="Google Shape;852;p71"/>
          <p:cNvSpPr/>
          <p:nvPr/>
        </p:nvSpPr>
        <p:spPr>
          <a:xfrm>
            <a:off x="2721875" y="4138050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M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853" name="Google Shape;853;p71"/>
          <p:cNvCxnSpPr/>
          <p:nvPr/>
        </p:nvCxnSpPr>
        <p:spPr>
          <a:xfrm>
            <a:off x="3268175" y="1416725"/>
            <a:ext cx="1189500" cy="898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54" name="Google Shape;854;p71"/>
          <p:cNvCxnSpPr>
            <a:stCxn id="850" idx="6"/>
            <a:endCxn id="855" idx="1"/>
          </p:cNvCxnSpPr>
          <p:nvPr/>
        </p:nvCxnSpPr>
        <p:spPr>
          <a:xfrm>
            <a:off x="3311375" y="2383938"/>
            <a:ext cx="1146300" cy="30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56" name="Google Shape;856;p71"/>
          <p:cNvCxnSpPr/>
          <p:nvPr/>
        </p:nvCxnSpPr>
        <p:spPr>
          <a:xfrm rot="10800000" flipH="1">
            <a:off x="3218675" y="2903925"/>
            <a:ext cx="1228200" cy="371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57" name="Google Shape;857;p71"/>
          <p:cNvCxnSpPr/>
          <p:nvPr/>
        </p:nvCxnSpPr>
        <p:spPr>
          <a:xfrm rot="10800000" flipH="1">
            <a:off x="3268175" y="3086025"/>
            <a:ext cx="1221600" cy="1209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855" name="Google Shape;855;p71"/>
          <p:cNvSpPr/>
          <p:nvPr/>
        </p:nvSpPr>
        <p:spPr>
          <a:xfrm>
            <a:off x="4457675" y="2231025"/>
            <a:ext cx="1478700" cy="910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Node 5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858" name="Google Shape;858;p71"/>
          <p:cNvCxnSpPr/>
          <p:nvPr/>
        </p:nvCxnSpPr>
        <p:spPr>
          <a:xfrm>
            <a:off x="3761175" y="1200150"/>
            <a:ext cx="10800" cy="3332700"/>
          </a:xfrm>
          <a:prstGeom prst="straightConnector1">
            <a:avLst/>
          </a:prstGeom>
          <a:noFill/>
          <a:ln w="19050" cap="flat" cmpd="sng">
            <a:solidFill>
              <a:srgbClr val="E06666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859" name="Google Shape;859;p71"/>
          <p:cNvSpPr/>
          <p:nvPr/>
        </p:nvSpPr>
        <p:spPr>
          <a:xfrm>
            <a:off x="7158000" y="1446600"/>
            <a:ext cx="1986000" cy="25146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28575" cap="flat" cmpd="sng">
            <a:solidFill>
              <a:srgbClr val="99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8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Hello</a:t>
            </a: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, 13),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8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how</a:t>
            </a: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, 10),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8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are</a:t>
            </a: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, 50),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(</a:t>
            </a:r>
            <a:r>
              <a:rPr lang="en-GB" sz="1800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you</a:t>
            </a: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, 5)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  …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  ..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 Slab"/>
                <a:ea typeface="Roboto Slab"/>
                <a:cs typeface="Roboto Slab"/>
                <a:sym typeface="Roboto Slab"/>
              </a:rPr>
              <a:t>  .</a:t>
            </a:r>
            <a:endParaRPr sz="18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60" name="Google Shape;860;p71"/>
          <p:cNvSpPr txBox="1"/>
          <p:nvPr/>
        </p:nvSpPr>
        <p:spPr>
          <a:xfrm>
            <a:off x="7308050" y="964400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Final output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61" name="Google Shape;861;p71"/>
          <p:cNvSpPr/>
          <p:nvPr/>
        </p:nvSpPr>
        <p:spPr>
          <a:xfrm>
            <a:off x="6252438" y="2425350"/>
            <a:ext cx="589500" cy="55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R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862" name="Google Shape;862;p71"/>
          <p:cNvCxnSpPr/>
          <p:nvPr/>
        </p:nvCxnSpPr>
        <p:spPr>
          <a:xfrm>
            <a:off x="5936375" y="2691750"/>
            <a:ext cx="319200" cy="2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863" name="Google Shape;863;p71"/>
          <p:cNvCxnSpPr/>
          <p:nvPr/>
        </p:nvCxnSpPr>
        <p:spPr>
          <a:xfrm>
            <a:off x="6841950" y="2691750"/>
            <a:ext cx="319200" cy="2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864" name="Google Shape;864;p71"/>
          <p:cNvSpPr txBox="1"/>
          <p:nvPr/>
        </p:nvSpPr>
        <p:spPr>
          <a:xfrm>
            <a:off x="3886175" y="878675"/>
            <a:ext cx="198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Roboto Slab"/>
                <a:ea typeface="Roboto Slab"/>
                <a:cs typeface="Roboto Slab"/>
                <a:sym typeface="Roboto Slab"/>
              </a:rPr>
              <a:t>&lt; Shuffle &amp; sort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40BAC7"/>
      </a:accent5>
      <a:accent6>
        <a:srgbClr val="EEFF41"/>
      </a:accent6>
      <a:hlink>
        <a:srgbClr val="B0CC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1775</Words>
  <Application>Microsoft Office PowerPoint</Application>
  <PresentationFormat>On-screen Show (16:9)</PresentationFormat>
  <Paragraphs>531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Roboto Slab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Raghu Raman Bhattathirippad</cp:lastModifiedBy>
  <cp:revision>4</cp:revision>
  <dcterms:modified xsi:type="dcterms:W3CDTF">2022-01-25T05:17:43Z</dcterms:modified>
</cp:coreProperties>
</file>